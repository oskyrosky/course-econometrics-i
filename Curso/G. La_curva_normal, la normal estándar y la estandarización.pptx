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5"/>
  </p:notesMasterIdLst>
  <p:sldIdLst>
    <p:sldId id="256" r:id="rId2"/>
    <p:sldId id="303" r:id="rId3"/>
    <p:sldId id="330" r:id="rId4"/>
    <p:sldId id="304" r:id="rId5"/>
    <p:sldId id="257" r:id="rId6"/>
    <p:sldId id="258" r:id="rId7"/>
    <p:sldId id="259" r:id="rId8"/>
    <p:sldId id="260" r:id="rId9"/>
    <p:sldId id="277" r:id="rId10"/>
    <p:sldId id="261" r:id="rId11"/>
    <p:sldId id="305" r:id="rId12"/>
    <p:sldId id="283" r:id="rId13"/>
    <p:sldId id="262" r:id="rId14"/>
    <p:sldId id="306" r:id="rId15"/>
    <p:sldId id="263" r:id="rId16"/>
    <p:sldId id="278" r:id="rId17"/>
    <p:sldId id="264" r:id="rId18"/>
    <p:sldId id="265" r:id="rId19"/>
    <p:sldId id="266" r:id="rId20"/>
    <p:sldId id="267" r:id="rId21"/>
    <p:sldId id="268" r:id="rId22"/>
    <p:sldId id="269" r:id="rId23"/>
    <p:sldId id="271" r:id="rId24"/>
    <p:sldId id="272" r:id="rId25"/>
    <p:sldId id="332" r:id="rId26"/>
    <p:sldId id="273" r:id="rId27"/>
    <p:sldId id="279" r:id="rId28"/>
    <p:sldId id="274" r:id="rId29"/>
    <p:sldId id="307" r:id="rId30"/>
    <p:sldId id="275" r:id="rId31"/>
    <p:sldId id="276" r:id="rId32"/>
    <p:sldId id="308" r:id="rId33"/>
    <p:sldId id="280" r:id="rId34"/>
    <p:sldId id="284" r:id="rId35"/>
    <p:sldId id="285" r:id="rId36"/>
    <p:sldId id="299" r:id="rId37"/>
    <p:sldId id="300" r:id="rId38"/>
    <p:sldId id="282" r:id="rId39"/>
    <p:sldId id="286" r:id="rId40"/>
    <p:sldId id="301" r:id="rId41"/>
    <p:sldId id="302" r:id="rId42"/>
    <p:sldId id="287" r:id="rId43"/>
    <p:sldId id="309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33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270" r:id="rId69"/>
    <p:sldId id="326" r:id="rId70"/>
    <p:sldId id="327" r:id="rId71"/>
    <p:sldId id="328" r:id="rId72"/>
    <p:sldId id="297" r:id="rId73"/>
    <p:sldId id="298" r:id="rId7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Oscar\Desktop\Cosas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1365937056033228E-2"/>
          <c:y val="5.1400554097404488E-2"/>
          <c:w val="0.89569332273832858"/>
          <c:h val="0.79822506561679785"/>
        </c:manualLayout>
      </c:layout>
      <c:barChart>
        <c:barDir val="col"/>
        <c:grouping val="clustered"/>
        <c:varyColors val="0"/>
        <c:ser>
          <c:idx val="0"/>
          <c:order val="0"/>
          <c:invertIfNegative val="0"/>
          <c:cat>
            <c:numRef>
              <c:f>Hoja1!$D$4:$D$14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</c:numCache>
            </c:numRef>
          </c:cat>
          <c:val>
            <c:numRef>
              <c:f>Hoja1!$C$4:$C$14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2E-4759-989F-BDC6FA33F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9152128"/>
        <c:axId val="89166208"/>
      </c:barChart>
      <c:catAx>
        <c:axId val="89152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89166208"/>
        <c:crosses val="autoZero"/>
        <c:auto val="1"/>
        <c:lblAlgn val="ctr"/>
        <c:lblOffset val="100"/>
        <c:noMultiLvlLbl val="0"/>
      </c:catAx>
      <c:valAx>
        <c:axId val="891662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89152128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  <c:userShapes r:id="rId3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0.67708</cdr:y>
    </cdr:from>
    <cdr:to>
      <cdr:x>0.08257</cdr:x>
      <cdr:y>0.77083</cdr:y>
    </cdr:to>
    <cdr:sp macro="" textlink="">
      <cdr:nvSpPr>
        <cdr:cNvPr id="3" name="2 Rectángulo"/>
        <cdr:cNvSpPr/>
      </cdr:nvSpPr>
      <cdr:spPr>
        <a:xfrm xmlns:a="http://schemas.openxmlformats.org/drawingml/2006/main">
          <a:off x="0" y="1857374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pPr algn="ctr"/>
          <a:r>
            <a:rPr lang="es-CR" sz="1200" dirty="0"/>
            <a:t>1/36</a:t>
          </a:r>
        </a:p>
      </cdr:txBody>
    </cdr:sp>
  </cdr:relSizeAnchor>
  <cdr:relSizeAnchor xmlns:cdr="http://schemas.openxmlformats.org/drawingml/2006/chartDrawing">
    <cdr:from>
      <cdr:x>0</cdr:x>
      <cdr:y>0.56944</cdr:y>
    </cdr:from>
    <cdr:to>
      <cdr:x>0.08257</cdr:x>
      <cdr:y>0.66319</cdr:y>
    </cdr:to>
    <cdr:sp macro="" textlink="">
      <cdr:nvSpPr>
        <cdr:cNvPr id="5" name="1 Rectángulo"/>
        <cdr:cNvSpPr/>
      </cdr:nvSpPr>
      <cdr:spPr>
        <a:xfrm xmlns:a="http://schemas.openxmlformats.org/drawingml/2006/main">
          <a:off x="0" y="156210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2/36</a:t>
          </a:r>
        </a:p>
      </cdr:txBody>
    </cdr:sp>
  </cdr:relSizeAnchor>
  <cdr:relSizeAnchor xmlns:cdr="http://schemas.openxmlformats.org/drawingml/2006/chartDrawing">
    <cdr:from>
      <cdr:x>0</cdr:x>
      <cdr:y>0.45139</cdr:y>
    </cdr:from>
    <cdr:to>
      <cdr:x>0.08257</cdr:x>
      <cdr:y>0.54514</cdr:y>
    </cdr:to>
    <cdr:sp macro="" textlink="">
      <cdr:nvSpPr>
        <cdr:cNvPr id="6" name="1 Rectángulo"/>
        <cdr:cNvSpPr/>
      </cdr:nvSpPr>
      <cdr:spPr>
        <a:xfrm xmlns:a="http://schemas.openxmlformats.org/drawingml/2006/main">
          <a:off x="0" y="12382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pPr algn="ctr"/>
          <a:r>
            <a:rPr lang="es-CR" sz="1200" dirty="0"/>
            <a:t>3/36</a:t>
          </a:r>
        </a:p>
      </cdr:txBody>
    </cdr:sp>
  </cdr:relSizeAnchor>
  <cdr:relSizeAnchor xmlns:cdr="http://schemas.openxmlformats.org/drawingml/2006/chartDrawing">
    <cdr:from>
      <cdr:x>0</cdr:x>
      <cdr:y>0.32639</cdr:y>
    </cdr:from>
    <cdr:to>
      <cdr:x>0.08257</cdr:x>
      <cdr:y>0.42014</cdr:y>
    </cdr:to>
    <cdr:sp macro="" textlink="">
      <cdr:nvSpPr>
        <cdr:cNvPr id="7" name="1 Rectángulo"/>
        <cdr:cNvSpPr/>
      </cdr:nvSpPr>
      <cdr:spPr>
        <a:xfrm xmlns:a="http://schemas.openxmlformats.org/drawingml/2006/main">
          <a:off x="0" y="8953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4/36</a:t>
          </a:r>
        </a:p>
      </cdr:txBody>
    </cdr:sp>
  </cdr:relSizeAnchor>
  <cdr:relSizeAnchor xmlns:cdr="http://schemas.openxmlformats.org/drawingml/2006/chartDrawing">
    <cdr:from>
      <cdr:x>0</cdr:x>
      <cdr:y>0.21528</cdr:y>
    </cdr:from>
    <cdr:to>
      <cdr:x>0.08257</cdr:x>
      <cdr:y>0.30903</cdr:y>
    </cdr:to>
    <cdr:sp macro="" textlink="">
      <cdr:nvSpPr>
        <cdr:cNvPr id="8" name="1 Rectángulo"/>
        <cdr:cNvSpPr/>
      </cdr:nvSpPr>
      <cdr:spPr>
        <a:xfrm xmlns:a="http://schemas.openxmlformats.org/drawingml/2006/main">
          <a:off x="0" y="5905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5/36</a:t>
          </a:r>
        </a:p>
      </cdr:txBody>
    </cdr:sp>
  </cdr:relSizeAnchor>
  <cdr:relSizeAnchor xmlns:cdr="http://schemas.openxmlformats.org/drawingml/2006/chartDrawing">
    <cdr:from>
      <cdr:x>0</cdr:x>
      <cdr:y>0.10764</cdr:y>
    </cdr:from>
    <cdr:to>
      <cdr:x>0.08257</cdr:x>
      <cdr:y>0.1875</cdr:y>
    </cdr:to>
    <cdr:sp macro="" textlink="">
      <cdr:nvSpPr>
        <cdr:cNvPr id="9" name="1 Rectángulo"/>
        <cdr:cNvSpPr/>
      </cdr:nvSpPr>
      <cdr:spPr>
        <a:xfrm xmlns:a="http://schemas.openxmlformats.org/drawingml/2006/main">
          <a:off x="0" y="295275"/>
          <a:ext cx="428624" cy="219075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6/36</a:t>
          </a:r>
        </a:p>
      </cdr:txBody>
    </cdr:sp>
  </cdr:relSizeAnchor>
  <cdr:relSizeAnchor xmlns:cdr="http://schemas.openxmlformats.org/drawingml/2006/chartDrawing">
    <cdr:from>
      <cdr:x>0</cdr:x>
      <cdr:y>0</cdr:y>
    </cdr:from>
    <cdr:to>
      <cdr:x>0.08257</cdr:x>
      <cdr:y>0.07986</cdr:y>
    </cdr:to>
    <cdr:sp macro="" textlink="">
      <cdr:nvSpPr>
        <cdr:cNvPr id="10" name="1 Rectángulo"/>
        <cdr:cNvSpPr/>
      </cdr:nvSpPr>
      <cdr:spPr>
        <a:xfrm xmlns:a="http://schemas.openxmlformats.org/drawingml/2006/main">
          <a:off x="0" y="0"/>
          <a:ext cx="428624" cy="219075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7/36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07DBF71-B5F0-4E84-9295-5324EF0B880D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B5B06CE-D398-4D49-910A-39201A8A2C7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18162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R"/>
          </a:p>
        </p:txBody>
      </p:sp>
      <p:sp>
        <p:nvSpPr>
          <p:cNvPr id="3072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F9754E-158D-4985-B76B-A47892EC50A3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4 Rectángulo redondeado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9 Rectángulo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1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F77DE-3F49-44B3-A426-F4EBC0FCA2E0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12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3C80844-E464-4EAA-B31D-40EF1128B2B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87FC3-C312-4FE9-815C-59E5ABE53A59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D6300-8F9C-4989-AC46-81408D7E31B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4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AFFA7-50B6-4B3E-8CDF-304DA2727626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10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09A13-2021-4053-886D-D2CBBDBE994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31B19-EB00-4CD1-9F4E-9241C249ADBA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69D8C-59AD-4D72-982B-38F20B5AB53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33ED7-11ED-4B3F-810E-6500BAF7FEC4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0CEFD-E75E-4F3B-B524-8E9EF0D96E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6E2E4-4D6B-4D51-B21E-A86759BC816D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ED5D6-A694-4718-B6A7-6C7C2D059EE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23A67-1174-43C4-B038-FE28EFD7B6E0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17BEA-81E0-4E61-9704-31843B7714D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6" name="5 Rectángulo redondeado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FB784-E202-4D98-A319-56FF502801DF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8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15997-5BD5-40CD-BF53-2E2E0710DDF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8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FB51C-613A-40F4-A782-5C27A3D3103D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9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55905-4BA0-4D7D-B8B4-783F8BA6921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7968D-564B-48E6-A00D-4934CF578AC2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DEE7E-7A76-4A38-B337-1179E9AA1F0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4245B-DF4E-4625-973E-11239A2F61B1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3235F-30EB-4158-8082-1B95D5F4747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21 Marcador de título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29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3A392F31-6C86-4683-8278-33DC71A5D150}" type="datetimeFigureOut">
              <a:rPr lang="es-ES"/>
              <a:pPr>
                <a:defRPr/>
              </a:pPr>
              <a:t>15/01/2021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3039345-7E83-473B-A39C-5E58715348E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1" r:id="rId2"/>
    <p:sldLayoutId id="2147483699" r:id="rId3"/>
    <p:sldLayoutId id="2147483692" r:id="rId4"/>
    <p:sldLayoutId id="2147483693" r:id="rId5"/>
    <p:sldLayoutId id="2147483694" r:id="rId6"/>
    <p:sldLayoutId id="2147483695" r:id="rId7"/>
    <p:sldLayoutId id="2147483700" r:id="rId8"/>
    <p:sldLayoutId id="2147483701" r:id="rId9"/>
    <p:sldLayoutId id="2147483696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2 Subtítulo"/>
          <p:cNvSpPr>
            <a:spLocks noGrp="1"/>
          </p:cNvSpPr>
          <p:nvPr>
            <p:ph type="subTitle" idx="1"/>
          </p:nvPr>
        </p:nvSpPr>
        <p:spPr>
          <a:xfrm>
            <a:off x="2571750" y="5143500"/>
            <a:ext cx="6400800" cy="885825"/>
          </a:xfrm>
        </p:spPr>
        <p:txBody>
          <a:bodyPr/>
          <a:lstStyle/>
          <a:p>
            <a:pPr algn="r" eaLnBrk="1" hangingPunct="1"/>
            <a:r>
              <a:rPr lang="es-CR" sz="4800"/>
              <a:t>Oscar Centeno Mora</a:t>
            </a:r>
          </a:p>
        </p:txBody>
      </p:sp>
      <p:sp>
        <p:nvSpPr>
          <p:cNvPr id="6147" name="1 Título"/>
          <p:cNvSpPr>
            <a:spLocks noGrp="1"/>
          </p:cNvSpPr>
          <p:nvPr>
            <p:ph type="ctrTitle"/>
          </p:nvPr>
        </p:nvSpPr>
        <p:spPr>
          <a:xfrm>
            <a:off x="0" y="1500174"/>
            <a:ext cx="9144000" cy="1470025"/>
          </a:xfrm>
        </p:spPr>
        <p:txBody>
          <a:bodyPr/>
          <a:lstStyle/>
          <a:p>
            <a:pPr eaLnBrk="1" hangingPunct="1"/>
            <a:r>
              <a:rPr lang="es-CR" sz="5400" dirty="0"/>
              <a:t>La curva normal y la curva normal estándar  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9" name="8 Elipse"/>
          <p:cNvSpPr/>
          <p:nvPr/>
        </p:nvSpPr>
        <p:spPr>
          <a:xfrm>
            <a:off x="4572000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6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estándar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Cálculo de probabilidades en la normal estándar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6372200" y="5229200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Ejemplos de cálculos de probabilidad</a:t>
            </a:r>
          </a:p>
        </p:txBody>
      </p:sp>
    </p:spTree>
    <p:extLst>
      <p:ext uri="{BB962C8B-B14F-4D97-AF65-F5344CB8AC3E}">
        <p14:creationId xmlns:p14="http://schemas.microsoft.com/office/powerpoint/2010/main" val="223600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6A7D5C63-F340-4813-B615-17C05401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5" name="3 Elipse">
            <a:extLst>
              <a:ext uri="{FF2B5EF4-FFF2-40B4-BE49-F238E27FC236}">
                <a16:creationId xmlns:a16="http://schemas.microsoft.com/office/drawing/2014/main" id="{D8008175-AE51-43F4-9F77-24D726253065}"/>
              </a:ext>
            </a:extLst>
          </p:cNvPr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7</a:t>
            </a:r>
          </a:p>
        </p:txBody>
      </p:sp>
      <p:sp>
        <p:nvSpPr>
          <p:cNvPr id="6" name="14 Rectángulo redondeado">
            <a:extLst>
              <a:ext uri="{FF2B5EF4-FFF2-40B4-BE49-F238E27FC236}">
                <a16:creationId xmlns:a16="http://schemas.microsoft.com/office/drawing/2014/main" id="{6998E710-245D-453A-A0D9-A50154FAF5C7}"/>
              </a:ext>
            </a:extLst>
          </p:cNvPr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estandarización</a:t>
            </a:r>
          </a:p>
        </p:txBody>
      </p:sp>
    </p:spTree>
    <p:extLst>
      <p:ext uri="{BB962C8B-B14F-4D97-AF65-F5344CB8AC3E}">
        <p14:creationId xmlns:p14="http://schemas.microsoft.com/office/powerpoint/2010/main" val="239318279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7203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22945"/>
            <a:ext cx="6300192" cy="5646415"/>
          </a:xfrm>
        </p:spPr>
        <p:txBody>
          <a:bodyPr>
            <a:normAutofit fontScale="92500"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Si se graficara la distribución de la mayoría de los hechos que suceden en la vida, estos suelen tener una distribución normal.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No importa si se trata de una variable discreta (como los resultados de un dado), o de una variable continua (edades, pesos, etc.): la distribución de los resultados siempre se distribuirá de forma normal, siempre y cuando se tengan diversas “observaciones”.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Dado que la “distribución”  de casi todos los hechos tiende a agruparse en el centro, y </a:t>
            </a:r>
            <a:r>
              <a:rPr lang="es-CR" dirty="0" err="1"/>
              <a:t>pierder</a:t>
            </a:r>
            <a:r>
              <a:rPr lang="es-CR" dirty="0"/>
              <a:t> densidad en las colas, de ahí el nombre de distribución </a:t>
            </a:r>
            <a:r>
              <a:rPr lang="es-CR" b="1" i="1" dirty="0"/>
              <a:t>normal</a:t>
            </a:r>
            <a:r>
              <a:rPr lang="es-CR" dirty="0"/>
              <a:t>.</a:t>
            </a:r>
            <a:endParaRPr lang="es-CR" b="1" i="1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</p:txBody>
      </p:sp>
      <p:pic>
        <p:nvPicPr>
          <p:cNvPr id="43010" name="Picture 2" descr="http://estudiarfisica.files.wordpress.com/2009/05/iq-gaussian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4198" y="1196752"/>
            <a:ext cx="2610290" cy="2088232"/>
          </a:xfrm>
          <a:prstGeom prst="rect">
            <a:avLst/>
          </a:prstGeom>
          <a:noFill/>
        </p:spPr>
      </p:pic>
      <p:pic>
        <p:nvPicPr>
          <p:cNvPr id="43012" name="Picture 4" descr="http://aathosc.tripod.com/CurvaZNorm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5421" y="3933056"/>
            <a:ext cx="2638579" cy="2304256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285875"/>
            <a:ext cx="8784976" cy="4572000"/>
          </a:xfrm>
        </p:spPr>
        <p:txBody>
          <a:bodyPr/>
          <a:lstStyle/>
          <a:p>
            <a:pPr algn="just" eaLnBrk="1" hangingPunct="1"/>
            <a:r>
              <a:rPr lang="es-CR" sz="2400" dirty="0"/>
              <a:t>Ejemplificando lo anterior:  si jugáramos con dados una cantidad considerablemente grande de veces (superior  40-30), la distribución de datos sería aproximadamente la siguiente:</a:t>
            </a:r>
          </a:p>
        </p:txBody>
      </p:sp>
      <p:sp>
        <p:nvSpPr>
          <p:cNvPr id="819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Introducción</a:t>
            </a:r>
          </a:p>
        </p:txBody>
      </p:sp>
      <p:graphicFrame>
        <p:nvGraphicFramePr>
          <p:cNvPr id="7" name="1 Gráfico"/>
          <p:cNvGraphicFramePr/>
          <p:nvPr>
            <p:extLst>
              <p:ext uri="{D42A27DB-BD31-4B8C-83A1-F6EECF244321}">
                <p14:modId xmlns:p14="http://schemas.microsoft.com/office/powerpoint/2010/main" val="2682904313"/>
              </p:ext>
            </p:extLst>
          </p:nvPr>
        </p:nvGraphicFramePr>
        <p:xfrm>
          <a:off x="395536" y="3068960"/>
          <a:ext cx="8136904" cy="357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5143500"/>
          </a:xfrm>
        </p:spPr>
        <p:txBody>
          <a:bodyPr/>
          <a:lstStyle/>
          <a:p>
            <a:pPr eaLnBrk="1" hangingPunct="1"/>
            <a:r>
              <a:rPr lang="es-CR"/>
              <a:t>Dado el siguiente cuadro de probabilidad del experimento de jugar con dos dados:</a:t>
            </a:r>
          </a:p>
          <a:p>
            <a:pPr eaLnBrk="1" hangingPunct="1"/>
            <a:endParaRPr lang="es-CR"/>
          </a:p>
          <a:p>
            <a:pPr eaLnBrk="1" hangingPunct="1"/>
            <a:r>
              <a:rPr lang="es-CR"/>
              <a:t>Como se observa, el obtener el resultado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/>
              <a:t>“7”, es el evento más probable.</a:t>
            </a:r>
          </a:p>
          <a:p>
            <a:pPr eaLnBrk="1" hangingPunct="1"/>
            <a:r>
              <a:rPr lang="es-CR"/>
              <a:t>Luego el obtener “6” y “8” es el segundo más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/>
              <a:t>y así consecutivamente.</a:t>
            </a:r>
            <a:br>
              <a:rPr lang="es-CR"/>
            </a:br>
            <a:endParaRPr lang="es-CR"/>
          </a:p>
          <a:p>
            <a:pPr eaLnBrk="1" hangingPunct="1"/>
            <a:r>
              <a:rPr lang="es-CR"/>
              <a:t>Si se jugara un gran numero de veces, la distri-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/>
              <a:t>bución de los resultados  sería tan normal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/>
              <a:t>como se mostró en la filmina anterior.</a:t>
            </a:r>
          </a:p>
          <a:p>
            <a:pPr eaLnBrk="1" hangingPunct="1">
              <a:buFont typeface="Wingdings 2" pitchFamily="18" charset="2"/>
              <a:buNone/>
            </a:pPr>
            <a:endParaRPr lang="es-CR"/>
          </a:p>
        </p:txBody>
      </p:sp>
      <p:sp>
        <p:nvSpPr>
          <p:cNvPr id="921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Introducción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215063" y="2000250"/>
          <a:ext cx="2286016" cy="3571906"/>
        </p:xfrm>
        <a:graphic>
          <a:graphicData uri="http://schemas.openxmlformats.org/drawingml/2006/table">
            <a:tbl>
              <a:tblPr/>
              <a:tblGrid>
                <a:gridCol w="114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f(x)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6/36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089248"/>
            <a:ext cx="8606730" cy="4572000"/>
          </a:xfrm>
        </p:spPr>
        <p:txBody>
          <a:bodyPr/>
          <a:lstStyle/>
          <a:p>
            <a:pPr algn="just" eaLnBrk="1" hangingPunct="1"/>
            <a:r>
              <a:rPr lang="es-CR" sz="2400" dirty="0"/>
              <a:t>Para el caso continuo: supongamos la distribución de edades de la población de Costa Rica.  </a:t>
            </a:r>
          </a:p>
        </p:txBody>
      </p:sp>
      <p:sp>
        <p:nvSpPr>
          <p:cNvPr id="1024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750746" cy="836712"/>
          </a:xfrm>
        </p:spPr>
        <p:txBody>
          <a:bodyPr/>
          <a:lstStyle/>
          <a:p>
            <a:pPr algn="ctr" eaLnBrk="1" hangingPunct="1"/>
            <a:r>
              <a:rPr lang="es-CR" dirty="0"/>
              <a:t>Introducción</a:t>
            </a:r>
          </a:p>
        </p:txBody>
      </p:sp>
      <p:pic>
        <p:nvPicPr>
          <p:cNvPr id="1026" name="Picture 2" descr="Resultado de imagen para normal distribution 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191100"/>
            <a:ext cx="6048672" cy="441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80728"/>
          </a:xfrm>
        </p:spPr>
        <p:txBody>
          <a:bodyPr/>
          <a:lstStyle/>
          <a:p>
            <a:pPr algn="ctr" eaLnBrk="1" hangingPunct="1"/>
            <a:r>
              <a:rPr lang="es-CR" dirty="0"/>
              <a:t>Introducción</a:t>
            </a:r>
          </a:p>
        </p:txBody>
      </p:sp>
      <p:sp>
        <p:nvSpPr>
          <p:cNvPr id="11267" name="2 Marcador de contenido"/>
          <p:cNvSpPr>
            <a:spLocks noGrp="1"/>
          </p:cNvSpPr>
          <p:nvPr>
            <p:ph sz="quarter" idx="1"/>
          </p:nvPr>
        </p:nvSpPr>
        <p:spPr>
          <a:xfrm>
            <a:off x="-36512" y="1020663"/>
            <a:ext cx="6552728" cy="5504681"/>
          </a:xfrm>
        </p:spPr>
        <p:txBody>
          <a:bodyPr/>
          <a:lstStyle/>
          <a:p>
            <a:pPr algn="just" eaLnBrk="1" hangingPunct="1"/>
            <a:r>
              <a:rPr lang="es-CR" dirty="0"/>
              <a:t>Vemos que los datos, sin importar la localización u otros factores, suelen tener la forma normal o de campana (la campana de Gauss…).</a:t>
            </a:r>
          </a:p>
          <a:p>
            <a:pPr algn="just" eaLnBrk="1" hangingPunct="1"/>
            <a:endParaRPr lang="es-CR" dirty="0"/>
          </a:p>
          <a:p>
            <a:pPr algn="just" eaLnBrk="1" hangingPunct="1"/>
            <a:r>
              <a:rPr lang="es-CR" dirty="0"/>
              <a:t>Aunque esta vez la forma de la distribución no sea tan normal como para el caso de los dados, el ascenso y el descenso y sobre todo su forma de campana permiten confirmar la presencia de una distribución normal.</a:t>
            </a:r>
          </a:p>
          <a:p>
            <a:pPr algn="just" eaLnBrk="1" hangingPunct="1"/>
            <a:endParaRPr lang="es-CR" dirty="0"/>
          </a:p>
          <a:p>
            <a:pPr algn="just" eaLnBrk="1" hangingPunct="1"/>
            <a:r>
              <a:rPr lang="es-CR" dirty="0"/>
              <a:t>La comprobación de la normalidad se puede llevar a cabo mediante pruebas matemáticas o pruebas gráficas..</a:t>
            </a:r>
          </a:p>
        </p:txBody>
      </p:sp>
      <p:pic>
        <p:nvPicPr>
          <p:cNvPr id="40962" name="Picture 2" descr="http://www.freewebs.com/rockuruguayo80/eda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1268760"/>
            <a:ext cx="2232248" cy="2081143"/>
          </a:xfrm>
          <a:prstGeom prst="rect">
            <a:avLst/>
          </a:prstGeom>
          <a:noFill/>
        </p:spPr>
      </p:pic>
      <p:pic>
        <p:nvPicPr>
          <p:cNvPr id="40964" name="Picture 4" descr="http://www.cssblog.es/domains/cssblog.es/public_html/wp-content/uploads/2009/05/iconos-graficos-vectorizados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3717032"/>
            <a:ext cx="2160240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6696744" cy="5589240"/>
          </a:xfrm>
        </p:spPr>
        <p:txBody>
          <a:bodyPr>
            <a:normAutofit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Esto es, sin duda alguna, el hecho más importante que ha ocurrido en la estadística: permite relacionar la estadística probabilística con la </a:t>
            </a:r>
            <a:r>
              <a:rPr lang="es-CR" dirty="0" err="1"/>
              <a:t>inferencial</a:t>
            </a:r>
            <a:r>
              <a:rPr lang="es-CR" dirty="0"/>
              <a:t>. 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El poner unir las probabilidades con ciertos criterios y métodos </a:t>
            </a:r>
            <a:r>
              <a:rPr lang="es-CR" dirty="0" err="1"/>
              <a:t>inferenciales</a:t>
            </a:r>
            <a:r>
              <a:rPr lang="es-CR" dirty="0"/>
              <a:t> hizo el gran avance en la estadística en el siglo XIX. 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Sin embargo, para hacer esto se requería que los datos provinieran de una distribución normal. Por eso es que en este capítulo analizaron la curva normal, y se introducirá brevemente ciertos criterios de inferencia </a:t>
            </a:r>
            <a:r>
              <a:rPr lang="es-CR" dirty="0" err="1"/>
              <a:t>estadistica</a:t>
            </a:r>
            <a:r>
              <a:rPr lang="es-CR" dirty="0"/>
              <a:t>.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</p:txBody>
      </p:sp>
      <p:sp>
        <p:nvSpPr>
          <p:cNvPr id="12291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08720"/>
          </a:xfrm>
        </p:spPr>
        <p:txBody>
          <a:bodyPr/>
          <a:lstStyle/>
          <a:p>
            <a:pPr algn="ctr" eaLnBrk="1" hangingPunct="1"/>
            <a:r>
              <a:rPr lang="es-CR" dirty="0"/>
              <a:t>Introducción</a:t>
            </a:r>
          </a:p>
        </p:txBody>
      </p:sp>
      <p:pic>
        <p:nvPicPr>
          <p:cNvPr id="39938" name="Picture 2" descr="http://pritamaulipas.org.mx/mimaestro/wp-content/uploads/2010/03/dad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1124744"/>
            <a:ext cx="2088232" cy="2736304"/>
          </a:xfrm>
          <a:prstGeom prst="rect">
            <a:avLst/>
          </a:prstGeom>
          <a:noFill/>
        </p:spPr>
      </p:pic>
      <p:pic>
        <p:nvPicPr>
          <p:cNvPr id="39940" name="Picture 4" descr="http://www.edutecne.utn.edu.ar/probabilidad/probabilidad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4365104"/>
            <a:ext cx="2212860" cy="2232248"/>
          </a:xfrm>
          <a:prstGeom prst="rect">
            <a:avLst/>
          </a:prstGeom>
          <a:noFill/>
        </p:spPr>
      </p:pic>
    </p:spTree>
  </p:cSld>
  <p:clrMapOvr>
    <a:masterClrMapping/>
  </p:clrMapOvr>
  <p:transition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CR"/>
          </a:p>
        </p:txBody>
      </p:sp>
      <p:sp>
        <p:nvSpPr>
          <p:cNvPr id="13315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s-CR"/>
          </a:p>
        </p:txBody>
      </p:sp>
      <p:pic>
        <p:nvPicPr>
          <p:cNvPr id="13316" name="Picture 2" descr="http://psicologia.laguia2000.com/wp-content/uploads/2007/11/concepto-de-psicolog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2786050" y="142852"/>
            <a:ext cx="5214974" cy="10001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CR" sz="6000" dirty="0"/>
              <a:t>Un concepto….</a:t>
            </a:r>
          </a:p>
        </p:txBody>
      </p:sp>
    </p:spTree>
  </p:cSld>
  <p:clrMapOvr>
    <a:masterClrMapping/>
  </p:clrMapOvr>
  <p:transition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0" y="836712"/>
            <a:ext cx="6516216" cy="6021288"/>
          </a:xfrm>
        </p:spPr>
        <p:txBody>
          <a:bodyPr>
            <a:normAutofit lnSpcReduction="10000"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“</a:t>
            </a:r>
            <a:r>
              <a:rPr lang="es-CR" i="1" dirty="0"/>
              <a:t>Cuando los valores que puede asumir una variable depende del azar, es decir, no pueden predecirse con exactitud, se dice que es una variable aleatoria o al azar</a:t>
            </a:r>
            <a:r>
              <a:rPr lang="es-CR" dirty="0"/>
              <a:t>” Gómez, M. 2002.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Estas pueden ser discretas como continuas.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/>
              <a:t>1.El tirar dos dado: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/>
              <a:t>	-No se puede saber con anterioridad el resultado exacto del Resultado (si va a salir un 12, 6, 4 o cualquier de los posibles resultados).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/>
              <a:t>	-Al entrevistar a alguien y preguntar la edad, peso, frecuencia con que va al médico, no es algo que normalmente se sepa, y la información suele ser aleatoria. 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</p:txBody>
      </p:sp>
      <p:sp>
        <p:nvSpPr>
          <p:cNvPr id="1433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/>
              <a:t>Variable Aleatoria</a:t>
            </a:r>
          </a:p>
        </p:txBody>
      </p:sp>
      <p:pic>
        <p:nvPicPr>
          <p:cNvPr id="37890" name="Picture 2" descr="http://3.bp.blogspot.com/_Q-Vphy5tQtk/STXs6TiWQ5I/AAAAAAAAR_k/5IldA3wbkz4/s400/dad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692696"/>
            <a:ext cx="2232248" cy="3024336"/>
          </a:xfrm>
          <a:prstGeom prst="rect">
            <a:avLst/>
          </a:prstGeom>
          <a:noFill/>
        </p:spPr>
      </p:pic>
      <p:pic>
        <p:nvPicPr>
          <p:cNvPr id="37892" name="Picture 4" descr="http://silviamoransalvadores.files.wordpress.com/2008/04/nueva-image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3933056"/>
            <a:ext cx="2354747" cy="2664296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2 Marcador de contenido"/>
          <p:cNvSpPr>
            <a:spLocks noGrp="1"/>
          </p:cNvSpPr>
          <p:nvPr>
            <p:ph sz="quarter" idx="1"/>
          </p:nvPr>
        </p:nvSpPr>
        <p:spPr>
          <a:xfrm>
            <a:off x="142875" y="1214438"/>
            <a:ext cx="7629525" cy="4572000"/>
          </a:xfrm>
        </p:spPr>
        <p:txBody>
          <a:bodyPr/>
          <a:lstStyle/>
          <a:p>
            <a:pPr eaLnBrk="1" hangingPunct="1"/>
            <a:r>
              <a:rPr lang="es-CR" dirty="0"/>
              <a:t>Es uno de los primeros modelos utilizados y alrededor del cual se ha desarrollado casi toda la teoría y la práctica de la estadística.</a:t>
            </a:r>
          </a:p>
          <a:p>
            <a:pPr eaLnBrk="1" hangingPunct="1"/>
            <a:endParaRPr lang="es-CR" dirty="0"/>
          </a:p>
          <a:p>
            <a:pPr eaLnBrk="1" hangingPunct="1"/>
            <a:r>
              <a:rPr lang="es-CR" dirty="0"/>
              <a:t>La </a:t>
            </a:r>
            <a:r>
              <a:rPr lang="es-CR" i="1" dirty="0"/>
              <a:t>curva normal </a:t>
            </a:r>
            <a:r>
              <a:rPr lang="es-CR" dirty="0"/>
              <a:t>también recibe el nombre de </a:t>
            </a:r>
            <a:r>
              <a:rPr lang="es-CR" i="1" dirty="0"/>
              <a:t>normal de error</a:t>
            </a:r>
            <a:r>
              <a:rPr lang="es-CR" dirty="0"/>
              <a:t>, ya que los errores en las mediciones y en las observaciones corrientemente se distribuyen siguiendo un patrón en común (la forma de campana antes vista</a:t>
            </a:r>
            <a:r>
              <a:rPr lang="es-CR" i="1" dirty="0"/>
              <a:t>).</a:t>
            </a:r>
          </a:p>
          <a:p>
            <a:pPr eaLnBrk="1" hangingPunct="1"/>
            <a:endParaRPr lang="es-CR" i="1" dirty="0"/>
          </a:p>
          <a:p>
            <a:pPr eaLnBrk="1" hangingPunct="1"/>
            <a:r>
              <a:rPr lang="es-CR" dirty="0"/>
              <a:t>La expresión algebraica de la curva normal es la siguiente: </a:t>
            </a:r>
          </a:p>
        </p:txBody>
      </p:sp>
      <p:sp>
        <p:nvSpPr>
          <p:cNvPr id="1536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/>
              <a:t>La curva normal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6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71625" y="5572125"/>
            <a:ext cx="343693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68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5715000"/>
            <a:ext cx="34194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70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6000750"/>
            <a:ext cx="3486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72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6286500"/>
            <a:ext cx="3219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2 Marcador de contenido"/>
          <p:cNvSpPr>
            <a:spLocks noGrp="1"/>
          </p:cNvSpPr>
          <p:nvPr>
            <p:ph sz="quarter" idx="1"/>
          </p:nvPr>
        </p:nvSpPr>
        <p:spPr>
          <a:xfrm>
            <a:off x="214313" y="1214438"/>
            <a:ext cx="8501062" cy="5000625"/>
          </a:xfrm>
        </p:spPr>
        <p:txBody>
          <a:bodyPr/>
          <a:lstStyle/>
          <a:p>
            <a:pPr eaLnBrk="1" hangingPunct="1"/>
            <a:r>
              <a:rPr lang="es-ES"/>
              <a:t>Una representación de la curva normal, con sus parámetros µ y </a:t>
            </a:r>
            <a:r>
              <a:rPr lang="es-CR"/>
              <a:t>σ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/>
              <a:t>    es la siguiente:</a:t>
            </a:r>
          </a:p>
        </p:txBody>
      </p:sp>
      <p:sp>
        <p:nvSpPr>
          <p:cNvPr id="16387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/>
              <a:t>La curva normal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3" y="3071813"/>
            <a:ext cx="53721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86375" y="2500313"/>
            <a:ext cx="3436938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12 Conector recto de flecha"/>
          <p:cNvCxnSpPr/>
          <p:nvPr/>
        </p:nvCxnSpPr>
        <p:spPr>
          <a:xfrm rot="10800000" flipV="1">
            <a:off x="3786188" y="3143250"/>
            <a:ext cx="1428750" cy="1000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9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/>
          </a:p>
        </p:txBody>
      </p:sp>
      <p:pic>
        <p:nvPicPr>
          <p:cNvPr id="16392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46750" y="3714750"/>
            <a:ext cx="289718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l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/>
            <a:r>
              <a:rPr lang="es-CR"/>
              <a:t>Conociendo los valores de los parámetros (</a:t>
            </a:r>
            <a:r>
              <a:rPr lang="es-ES"/>
              <a:t>µ y </a:t>
            </a:r>
            <a:r>
              <a:rPr lang="es-CR"/>
              <a:t>σ), la curva normal estándar queda completamente definida. Por ejemplo, si la desviación estándar es 2 y el promedio 4, la expresión algebraica y su representación serían:</a:t>
            </a:r>
          </a:p>
        </p:txBody>
      </p:sp>
      <p:pic>
        <p:nvPicPr>
          <p:cNvPr id="1741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313" y="3489325"/>
            <a:ext cx="5000625" cy="336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43563" y="3214688"/>
            <a:ext cx="30718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/>
              <a:t>La curva normal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 rot="10800000" flipV="1">
            <a:off x="3643313" y="3786188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2627784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4</a:t>
            </a:r>
          </a:p>
        </p:txBody>
      </p:sp>
    </p:spTree>
  </p:cSld>
  <p:clrMapOvr>
    <a:masterClrMapping/>
  </p:clrMapOvr>
  <p:transition>
    <p:pull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4572000"/>
          </a:xfrm>
        </p:spPr>
        <p:txBody>
          <a:bodyPr/>
          <a:lstStyle/>
          <a:p>
            <a:pPr eaLnBrk="1" hangingPunct="1"/>
            <a:r>
              <a:rPr lang="es-CR"/>
              <a:t>Como la curva normal está en función de los parámetros </a:t>
            </a:r>
            <a:r>
              <a:rPr lang="es-ES"/>
              <a:t>µ y </a:t>
            </a:r>
            <a:r>
              <a:rPr lang="es-CR"/>
              <a:t>σ, su posición central y su forma van a estar en función de estos parámetros.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285750" y="0"/>
            <a:ext cx="8572500" cy="928688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CR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 curva normal</a:t>
            </a:r>
          </a:p>
        </p:txBody>
      </p:sp>
      <p:pic>
        <p:nvPicPr>
          <p:cNvPr id="1843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2857500"/>
            <a:ext cx="4857750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7 CuadroTexto"/>
          <p:cNvSpPr txBox="1">
            <a:spLocks noChangeArrowheads="1"/>
          </p:cNvSpPr>
          <p:nvPr/>
        </p:nvSpPr>
        <p:spPr bwMode="auto">
          <a:xfrm>
            <a:off x="3429000" y="3040063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1.</a:t>
            </a:r>
          </a:p>
        </p:txBody>
      </p:sp>
      <p:sp>
        <p:nvSpPr>
          <p:cNvPr id="18438" name="8 CuadroTexto"/>
          <p:cNvSpPr txBox="1">
            <a:spLocks noChangeArrowheads="1"/>
          </p:cNvSpPr>
          <p:nvPr/>
        </p:nvSpPr>
        <p:spPr bwMode="auto">
          <a:xfrm>
            <a:off x="3438525" y="3182938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2.</a:t>
            </a:r>
          </a:p>
        </p:txBody>
      </p:sp>
      <p:sp>
        <p:nvSpPr>
          <p:cNvPr id="18439" name="9 CuadroTexto"/>
          <p:cNvSpPr txBox="1">
            <a:spLocks noChangeArrowheads="1"/>
          </p:cNvSpPr>
          <p:nvPr/>
        </p:nvSpPr>
        <p:spPr bwMode="auto">
          <a:xfrm>
            <a:off x="3429000" y="3325813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3.</a:t>
            </a:r>
          </a:p>
        </p:txBody>
      </p:sp>
      <p:sp>
        <p:nvSpPr>
          <p:cNvPr id="18440" name="10 CuadroTexto"/>
          <p:cNvSpPr txBox="1">
            <a:spLocks noChangeArrowheads="1"/>
          </p:cNvSpPr>
          <p:nvPr/>
        </p:nvSpPr>
        <p:spPr bwMode="auto">
          <a:xfrm>
            <a:off x="3429000" y="3500438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4.</a:t>
            </a:r>
          </a:p>
        </p:txBody>
      </p:sp>
      <p:sp>
        <p:nvSpPr>
          <p:cNvPr id="18441" name="11 CuadroTexto"/>
          <p:cNvSpPr txBox="1">
            <a:spLocks noChangeArrowheads="1"/>
          </p:cNvSpPr>
          <p:nvPr/>
        </p:nvSpPr>
        <p:spPr bwMode="auto">
          <a:xfrm>
            <a:off x="5643563" y="2741613"/>
            <a:ext cx="26431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1. Distribución normal con promedio centrado y muy poca variabilidad</a:t>
            </a:r>
          </a:p>
        </p:txBody>
      </p:sp>
      <p:sp>
        <p:nvSpPr>
          <p:cNvPr id="18442" name="12 CuadroTexto"/>
          <p:cNvSpPr txBox="1">
            <a:spLocks noChangeArrowheads="1"/>
          </p:cNvSpPr>
          <p:nvPr/>
        </p:nvSpPr>
        <p:spPr bwMode="auto">
          <a:xfrm>
            <a:off x="5643563" y="357187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2. Distribución normal con promedio centrado con cierta variabilidad.</a:t>
            </a:r>
          </a:p>
        </p:txBody>
      </p:sp>
      <p:sp>
        <p:nvSpPr>
          <p:cNvPr id="18443" name="13 CuadroTexto"/>
          <p:cNvSpPr txBox="1">
            <a:spLocks noChangeArrowheads="1"/>
          </p:cNvSpPr>
          <p:nvPr/>
        </p:nvSpPr>
        <p:spPr bwMode="auto">
          <a:xfrm>
            <a:off x="5643563" y="438467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3. Distribución normal con promedio centrado con demasiada variabilidad.</a:t>
            </a:r>
          </a:p>
        </p:txBody>
      </p:sp>
      <p:sp>
        <p:nvSpPr>
          <p:cNvPr id="18444" name="14 CuadroTexto"/>
          <p:cNvSpPr txBox="1">
            <a:spLocks noChangeArrowheads="1"/>
          </p:cNvSpPr>
          <p:nvPr/>
        </p:nvSpPr>
        <p:spPr bwMode="auto">
          <a:xfrm>
            <a:off x="5643563" y="524192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4. Distribución normal con promedio no centrado con poca variabilidad.</a:t>
            </a:r>
          </a:p>
        </p:txBody>
      </p:sp>
    </p:spTree>
  </p:cSld>
  <p:clrMapOvr>
    <a:masterClrMapping/>
  </p:clrMapOvr>
  <p:transition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5940152" cy="5805264"/>
          </a:xfrm>
        </p:spPr>
        <p:txBody>
          <a:bodyPr/>
          <a:lstStyle/>
          <a:p>
            <a:pPr algn="just" eaLnBrk="1" hangingPunct="1"/>
            <a:r>
              <a:rPr lang="es-CR" dirty="0"/>
              <a:t>La popularidad de la curva normal no sólo reside en que la mayoría de los eventos tienen la distribución de campana antes vista, sino también por sus 5 características:</a:t>
            </a:r>
          </a:p>
          <a:p>
            <a:pPr algn="just" eaLnBrk="1" hangingPunct="1">
              <a:buFont typeface="Wingdings 2" pitchFamily="18" charset="2"/>
              <a:buNone/>
            </a:pPr>
            <a:endParaRPr lang="es-CR" dirty="0"/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1. </a:t>
            </a:r>
            <a:r>
              <a:rPr lang="es-CR" i="1" dirty="0"/>
              <a:t>El área total bajo la curva es igual a 1.</a:t>
            </a:r>
            <a:endParaRPr lang="es-CR" dirty="0"/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2. </a:t>
            </a:r>
            <a:r>
              <a:rPr lang="es-CR" i="1" dirty="0"/>
              <a:t>La distribución es simétrica respecto al promedio.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3. </a:t>
            </a:r>
            <a:r>
              <a:rPr lang="es-CR" i="1" dirty="0"/>
              <a:t>El promedio, moda y media valen lo mismo.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4.</a:t>
            </a:r>
            <a:r>
              <a:rPr lang="es-CR" i="1" dirty="0"/>
              <a:t>Queda perfectamente determinada cuando se conoce </a:t>
            </a:r>
            <a:r>
              <a:rPr lang="es-ES" i="1" dirty="0"/>
              <a:t>µ y </a:t>
            </a:r>
            <a:r>
              <a:rPr lang="es-CR" i="1" dirty="0"/>
              <a:t>σ.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5.</a:t>
            </a:r>
            <a:r>
              <a:rPr lang="es-CR" i="1" dirty="0"/>
              <a:t>La curva está definida desde - ∞ hasta + ∞</a:t>
            </a:r>
            <a:r>
              <a:rPr lang="es-CR" dirty="0"/>
              <a:t>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 </a:t>
            </a:r>
          </a:p>
          <a:p>
            <a:pPr eaLnBrk="1" hangingPunct="1">
              <a:buFont typeface="Wingdings 2" pitchFamily="18" charset="2"/>
              <a:buNone/>
            </a:pPr>
            <a:endParaRPr lang="es-CR" dirty="0"/>
          </a:p>
        </p:txBody>
      </p:sp>
      <p:sp>
        <p:nvSpPr>
          <p:cNvPr id="1945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/>
              <a:t>Características de la curva normal</a:t>
            </a:r>
          </a:p>
        </p:txBody>
      </p:sp>
      <p:pic>
        <p:nvPicPr>
          <p:cNvPr id="31746" name="Picture 2" descr="http://www.devocionaldiario.com/wp-content/uploads/2009/08/popularidad-300x26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124744"/>
            <a:ext cx="2857500" cy="2476501"/>
          </a:xfrm>
          <a:prstGeom prst="rect">
            <a:avLst/>
          </a:prstGeom>
          <a:noFill/>
        </p:spPr>
      </p:pic>
      <p:pic>
        <p:nvPicPr>
          <p:cNvPr id="31748" name="Picture 4" descr="http://pillateunlinux.files.wordpress.com/2008/12/popularidad_300x2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4077072"/>
            <a:ext cx="2520280" cy="1890210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dirty="0"/>
              <a:t>	1. “</a:t>
            </a:r>
            <a:r>
              <a:rPr lang="es-CR" i="1" dirty="0"/>
              <a:t>El área total bajo la curva y la </a:t>
            </a:r>
            <a:r>
              <a:rPr lang="es-CR" i="1" dirty="0" err="1"/>
              <a:t>absisa</a:t>
            </a:r>
            <a:r>
              <a:rPr lang="es-CR" i="1" dirty="0"/>
              <a:t> es igual a 1</a:t>
            </a:r>
            <a:r>
              <a:rPr lang="es-CR" dirty="0"/>
              <a:t>”.  La definición anterior produce que si se calculan intervalos de el área, entonces estaríamos hablando de valores entre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 dirty="0"/>
              <a:t>	0 ≤ Valor ≤ 1 (probabilidad)</a:t>
            </a:r>
          </a:p>
          <a:p>
            <a:pPr eaLnBrk="1" hangingPunct="1">
              <a:buFont typeface="Wingdings 2" pitchFamily="18" charset="2"/>
              <a:buNone/>
            </a:pPr>
            <a:endParaRPr lang="es-CR" dirty="0"/>
          </a:p>
        </p:txBody>
      </p:sp>
      <p:sp>
        <p:nvSpPr>
          <p:cNvPr id="2048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Características de la curva normal</a:t>
            </a:r>
          </a:p>
        </p:txBody>
      </p:sp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3500438"/>
            <a:ext cx="5715000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 de flecha"/>
          <p:cNvCxnSpPr/>
          <p:nvPr/>
        </p:nvCxnSpPr>
        <p:spPr>
          <a:xfrm rot="10800000" flipV="1">
            <a:off x="4286250" y="4143375"/>
            <a:ext cx="2571750" cy="857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rot="5400000" flipH="1" flipV="1">
            <a:off x="2536031" y="5822157"/>
            <a:ext cx="107156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rot="5400000" flipH="1" flipV="1">
            <a:off x="4036218" y="5822157"/>
            <a:ext cx="107156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3500438" y="4214813"/>
            <a:ext cx="6429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3429000" y="4429125"/>
            <a:ext cx="785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3357563" y="4572000"/>
            <a:ext cx="928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3286125" y="4714875"/>
            <a:ext cx="1071563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flipV="1">
            <a:off x="3214688" y="4857750"/>
            <a:ext cx="1214437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flipV="1">
            <a:off x="3214688" y="5010150"/>
            <a:ext cx="1214437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143250" y="5143500"/>
            <a:ext cx="1357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071813" y="52863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071813" y="54387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3071813" y="55911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071813" y="571500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3071813" y="58578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071813" y="600075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3071813" y="615315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3071813" y="628650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 de flecha"/>
          <p:cNvCxnSpPr/>
          <p:nvPr/>
        </p:nvCxnSpPr>
        <p:spPr>
          <a:xfrm rot="16200000" flipH="1">
            <a:off x="1678781" y="5036344"/>
            <a:ext cx="1357313" cy="714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04" name="39 CuadroTexto"/>
          <p:cNvSpPr txBox="1">
            <a:spLocks noChangeArrowheads="1"/>
          </p:cNvSpPr>
          <p:nvPr/>
        </p:nvSpPr>
        <p:spPr bwMode="auto">
          <a:xfrm>
            <a:off x="1043608" y="3717032"/>
            <a:ext cx="12858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 dirty="0"/>
              <a:t>Área total bajo la curva es igual a 1</a:t>
            </a:r>
          </a:p>
        </p:txBody>
      </p:sp>
      <p:sp>
        <p:nvSpPr>
          <p:cNvPr id="20505" name="40 CuadroTexto"/>
          <p:cNvSpPr txBox="1">
            <a:spLocks noChangeArrowheads="1"/>
          </p:cNvSpPr>
          <p:nvPr/>
        </p:nvSpPr>
        <p:spPr bwMode="auto">
          <a:xfrm>
            <a:off x="2857500" y="642937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a</a:t>
            </a:r>
          </a:p>
        </p:txBody>
      </p:sp>
      <p:sp>
        <p:nvSpPr>
          <p:cNvPr id="20506" name="41 CuadroTexto"/>
          <p:cNvSpPr txBox="1">
            <a:spLocks noChangeArrowheads="1"/>
          </p:cNvSpPr>
          <p:nvPr/>
        </p:nvSpPr>
        <p:spPr bwMode="auto">
          <a:xfrm>
            <a:off x="4429125" y="6478588"/>
            <a:ext cx="428625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b</a:t>
            </a:r>
          </a:p>
        </p:txBody>
      </p:sp>
      <p:sp>
        <p:nvSpPr>
          <p:cNvPr id="20507" name="42 CuadroTexto"/>
          <p:cNvSpPr txBox="1">
            <a:spLocks noChangeArrowheads="1"/>
          </p:cNvSpPr>
          <p:nvPr/>
        </p:nvSpPr>
        <p:spPr bwMode="auto">
          <a:xfrm>
            <a:off x="6929438" y="3657600"/>
            <a:ext cx="1785937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El área entre a y b es igual a </a:t>
            </a:r>
          </a:p>
          <a:p>
            <a:r>
              <a:rPr lang="es-CR"/>
              <a:t>0 ≤ Valor ≤ 1 </a:t>
            </a:r>
          </a:p>
        </p:txBody>
      </p:sp>
    </p:spTree>
  </p:cSld>
  <p:clrMapOvr>
    <a:masterClrMapping/>
  </p:clrMapOvr>
  <p:transition>
    <p:zoom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dirty="0"/>
              <a:t>2. </a:t>
            </a:r>
            <a:r>
              <a:rPr lang="es-CR" i="1" dirty="0"/>
              <a:t>La distribución es simétrica respecto a su promedio. </a:t>
            </a:r>
            <a:r>
              <a:rPr lang="es-CR" dirty="0"/>
              <a:t>Esto hace que entonces el cálculo de cierta probabilidad también lo sea.</a:t>
            </a:r>
          </a:p>
        </p:txBody>
      </p:sp>
      <p:sp>
        <p:nvSpPr>
          <p:cNvPr id="21507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Características de la curva normal</a:t>
            </a:r>
          </a:p>
        </p:txBody>
      </p:sp>
      <p:pic>
        <p:nvPicPr>
          <p:cNvPr id="2150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3000375"/>
            <a:ext cx="5715000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9" name="4 CuadroTexto"/>
          <p:cNvSpPr txBox="1">
            <a:spLocks noChangeArrowheads="1"/>
          </p:cNvSpPr>
          <p:nvPr/>
        </p:nvSpPr>
        <p:spPr bwMode="auto">
          <a:xfrm>
            <a:off x="2786063" y="614362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-a</a:t>
            </a:r>
          </a:p>
        </p:txBody>
      </p:sp>
      <p:sp>
        <p:nvSpPr>
          <p:cNvPr id="21510" name="5 CuadroTexto"/>
          <p:cNvSpPr txBox="1">
            <a:spLocks noChangeArrowheads="1"/>
          </p:cNvSpPr>
          <p:nvPr/>
        </p:nvSpPr>
        <p:spPr bwMode="auto">
          <a:xfrm>
            <a:off x="4429125" y="613092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a</a:t>
            </a:r>
          </a:p>
        </p:txBody>
      </p:sp>
      <p:cxnSp>
        <p:nvCxnSpPr>
          <p:cNvPr id="8" name="7 Conector recto"/>
          <p:cNvCxnSpPr/>
          <p:nvPr/>
        </p:nvCxnSpPr>
        <p:spPr>
          <a:xfrm rot="5400000" flipH="1" flipV="1">
            <a:off x="2536032" y="5322094"/>
            <a:ext cx="1071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5400000" flipH="1" flipV="1">
            <a:off x="4107657" y="5322094"/>
            <a:ext cx="1071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3071813" y="4786313"/>
            <a:ext cx="1571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Abrir llave"/>
          <p:cNvSpPr/>
          <p:nvPr/>
        </p:nvSpPr>
        <p:spPr>
          <a:xfrm rot="16200000">
            <a:off x="3286125" y="4572001"/>
            <a:ext cx="357187" cy="7858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R"/>
          </a:p>
        </p:txBody>
      </p:sp>
      <p:sp>
        <p:nvSpPr>
          <p:cNvPr id="13" name="12 Abrir llave"/>
          <p:cNvSpPr/>
          <p:nvPr/>
        </p:nvSpPr>
        <p:spPr>
          <a:xfrm rot="16200000">
            <a:off x="4071938" y="4572000"/>
            <a:ext cx="357187" cy="7858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R" dirty="0"/>
          </a:p>
        </p:txBody>
      </p:sp>
      <p:sp>
        <p:nvSpPr>
          <p:cNvPr id="21516" name="13 CuadroTexto"/>
          <p:cNvSpPr txBox="1">
            <a:spLocks noChangeArrowheads="1"/>
          </p:cNvSpPr>
          <p:nvPr/>
        </p:nvSpPr>
        <p:spPr bwMode="auto">
          <a:xfrm>
            <a:off x="3286125" y="5143500"/>
            <a:ext cx="12144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Misma distancia</a:t>
            </a: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/>
              <a:t>3. </a:t>
            </a:r>
            <a:r>
              <a:rPr lang="es-CR" i="1"/>
              <a:t>El promedio, moda y media valen lo mismo.</a:t>
            </a:r>
          </a:p>
          <a:p>
            <a:pPr eaLnBrk="1" hangingPunct="1">
              <a:buFont typeface="Wingdings 2" pitchFamily="18" charset="2"/>
              <a:buNone/>
            </a:pPr>
            <a:endParaRPr lang="es-CR"/>
          </a:p>
        </p:txBody>
      </p:sp>
      <p:sp>
        <p:nvSpPr>
          <p:cNvPr id="22531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Características de la curva normal</a:t>
            </a:r>
          </a:p>
        </p:txBody>
      </p:sp>
      <p:pic>
        <p:nvPicPr>
          <p:cNvPr id="2253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2643188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4 CuadroTexto"/>
          <p:cNvSpPr txBox="1">
            <a:spLocks noChangeArrowheads="1"/>
          </p:cNvSpPr>
          <p:nvPr/>
        </p:nvSpPr>
        <p:spPr bwMode="auto">
          <a:xfrm>
            <a:off x="3214688" y="5214938"/>
            <a:ext cx="85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50%</a:t>
            </a:r>
          </a:p>
        </p:txBody>
      </p:sp>
      <p:sp>
        <p:nvSpPr>
          <p:cNvPr id="22534" name="5 CuadroTexto"/>
          <p:cNvSpPr txBox="1">
            <a:spLocks noChangeArrowheads="1"/>
          </p:cNvSpPr>
          <p:nvPr/>
        </p:nvSpPr>
        <p:spPr bwMode="auto">
          <a:xfrm>
            <a:off x="4357688" y="5214938"/>
            <a:ext cx="85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50%</a:t>
            </a:r>
          </a:p>
        </p:txBody>
      </p:sp>
      <p:sp>
        <p:nvSpPr>
          <p:cNvPr id="7" name="6 Rectángulo"/>
          <p:cNvSpPr/>
          <p:nvPr/>
        </p:nvSpPr>
        <p:spPr>
          <a:xfrm>
            <a:off x="3857620" y="4000504"/>
            <a:ext cx="785818" cy="9286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CR" dirty="0"/>
              <a:t>Mo</a:t>
            </a:r>
            <a:br>
              <a:rPr lang="es-CR" dirty="0"/>
            </a:br>
            <a:r>
              <a:rPr lang="es-CR" dirty="0"/>
              <a:t>Me</a:t>
            </a:r>
            <a:br>
              <a:rPr lang="es-CR" dirty="0"/>
            </a:br>
            <a:r>
              <a:rPr lang="es-CR" dirty="0"/>
              <a:t>X</a:t>
            </a:r>
          </a:p>
        </p:txBody>
      </p:sp>
    </p:spTree>
  </p:cSld>
  <p:clrMapOvr>
    <a:masterClrMapping/>
  </p:clrMapOvr>
  <p:transition>
    <p:wheel spokes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14438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/>
              <a:t>4.</a:t>
            </a:r>
            <a:r>
              <a:rPr lang="es-CR" i="1"/>
              <a:t>La curva queda perfectamente determinada cuando se conoce </a:t>
            </a:r>
            <a:r>
              <a:rPr lang="es-ES" i="1"/>
              <a:t>µ y </a:t>
            </a:r>
            <a:r>
              <a:rPr lang="es-CR" i="1"/>
              <a:t>σ. </a:t>
            </a:r>
            <a:r>
              <a:rPr lang="es-CR"/>
              <a:t>Esto es que conocidos los dos parámetros anteriores, se define la medida de tendencia central y la de variabilidad.</a:t>
            </a:r>
          </a:p>
        </p:txBody>
      </p:sp>
      <p:sp>
        <p:nvSpPr>
          <p:cNvPr id="2355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000125"/>
          </a:xfrm>
        </p:spPr>
        <p:txBody>
          <a:bodyPr/>
          <a:lstStyle/>
          <a:p>
            <a:pPr algn="ctr" eaLnBrk="1" hangingPunct="1"/>
            <a:r>
              <a:rPr lang="es-CR"/>
              <a:t>Características de la curva normal</a:t>
            </a:r>
          </a:p>
        </p:txBody>
      </p:sp>
      <p:pic>
        <p:nvPicPr>
          <p:cNvPr id="2355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2857500"/>
            <a:ext cx="5832475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4 CuadroTexto"/>
          <p:cNvSpPr txBox="1">
            <a:spLocks noChangeArrowheads="1"/>
          </p:cNvSpPr>
          <p:nvPr/>
        </p:nvSpPr>
        <p:spPr bwMode="auto">
          <a:xfrm>
            <a:off x="3143250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</a:t>
            </a:r>
            <a:endParaRPr lang="es-CR"/>
          </a:p>
        </p:txBody>
      </p:sp>
      <p:sp>
        <p:nvSpPr>
          <p:cNvPr id="23558" name="5 CuadroTexto"/>
          <p:cNvSpPr txBox="1">
            <a:spLocks noChangeArrowheads="1"/>
          </p:cNvSpPr>
          <p:nvPr/>
        </p:nvSpPr>
        <p:spPr bwMode="auto">
          <a:xfrm>
            <a:off x="2428875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µ-</a:t>
            </a:r>
            <a:r>
              <a:rPr lang="es-CR"/>
              <a:t>σ</a:t>
            </a:r>
          </a:p>
        </p:txBody>
      </p:sp>
      <p:sp>
        <p:nvSpPr>
          <p:cNvPr id="23559" name="6 CuadroTexto"/>
          <p:cNvSpPr txBox="1">
            <a:spLocks noChangeArrowheads="1"/>
          </p:cNvSpPr>
          <p:nvPr/>
        </p:nvSpPr>
        <p:spPr bwMode="auto">
          <a:xfrm>
            <a:off x="1643063" y="598805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µ-2</a:t>
            </a:r>
            <a:r>
              <a:rPr lang="es-CR"/>
              <a:t>σ</a:t>
            </a:r>
          </a:p>
        </p:txBody>
      </p:sp>
      <p:sp>
        <p:nvSpPr>
          <p:cNvPr id="23560" name="7 CuadroTexto"/>
          <p:cNvSpPr txBox="1">
            <a:spLocks noChangeArrowheads="1"/>
          </p:cNvSpPr>
          <p:nvPr/>
        </p:nvSpPr>
        <p:spPr bwMode="auto">
          <a:xfrm>
            <a:off x="3929063" y="5976938"/>
            <a:ext cx="7858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µ+</a:t>
            </a:r>
            <a:r>
              <a:rPr lang="es-CR"/>
              <a:t>σ</a:t>
            </a:r>
          </a:p>
        </p:txBody>
      </p:sp>
      <p:sp>
        <p:nvSpPr>
          <p:cNvPr id="23561" name="8 CuadroTexto"/>
          <p:cNvSpPr txBox="1">
            <a:spLocks noChangeArrowheads="1"/>
          </p:cNvSpPr>
          <p:nvPr/>
        </p:nvSpPr>
        <p:spPr bwMode="auto">
          <a:xfrm>
            <a:off x="4714875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µ+2</a:t>
            </a:r>
            <a:r>
              <a:rPr lang="es-CR"/>
              <a:t>σ</a:t>
            </a:r>
          </a:p>
        </p:txBody>
      </p:sp>
    </p:spTree>
  </p:cSld>
  <p:clrMapOvr>
    <a:masterClrMapping/>
  </p:clrMapOvr>
  <p:transition>
    <p:wheel spokes="2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/>
              <a:t>5.</a:t>
            </a:r>
            <a:r>
              <a:rPr lang="es-CR" i="1"/>
              <a:t>La curva está definida desde - ∞ hasta + ∞</a:t>
            </a:r>
            <a:r>
              <a:rPr lang="es-CR"/>
              <a:t>.</a:t>
            </a:r>
          </a:p>
        </p:txBody>
      </p:sp>
      <p:sp>
        <p:nvSpPr>
          <p:cNvPr id="24579" name="1 Título"/>
          <p:cNvSpPr>
            <a:spLocks/>
          </p:cNvSpPr>
          <p:nvPr/>
        </p:nvSpPr>
        <p:spPr bwMode="auto">
          <a:xfrm>
            <a:off x="285750" y="0"/>
            <a:ext cx="8572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CR" sz="4000" dirty="0">
                <a:solidFill>
                  <a:schemeClr val="tx2"/>
                </a:solidFill>
                <a:latin typeface="Franklin Gothic Book" pitchFamily="34" charset="0"/>
              </a:rPr>
              <a:t>Características de la curva normal</a:t>
            </a:r>
          </a:p>
        </p:txBody>
      </p:sp>
      <p:pic>
        <p:nvPicPr>
          <p:cNvPr id="2458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2643188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4 CuadroTexto"/>
          <p:cNvSpPr txBox="1">
            <a:spLocks noChangeArrowheads="1"/>
          </p:cNvSpPr>
          <p:nvPr/>
        </p:nvSpPr>
        <p:spPr bwMode="auto">
          <a:xfrm>
            <a:off x="-142875" y="6000750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24582" name="5 CuadroTexto"/>
          <p:cNvSpPr txBox="1">
            <a:spLocks noChangeArrowheads="1"/>
          </p:cNvSpPr>
          <p:nvPr/>
        </p:nvSpPr>
        <p:spPr bwMode="auto">
          <a:xfrm>
            <a:off x="7858125" y="6000750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sp>
        <p:nvSpPr>
          <p:cNvPr id="24583" name="6 CuadroTexto"/>
          <p:cNvSpPr txBox="1">
            <a:spLocks noChangeArrowheads="1"/>
          </p:cNvSpPr>
          <p:nvPr/>
        </p:nvSpPr>
        <p:spPr bwMode="auto">
          <a:xfrm>
            <a:off x="3786188" y="6324600"/>
            <a:ext cx="7858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2400" i="1"/>
              <a:t>0</a:t>
            </a:r>
            <a:endParaRPr lang="es-CR" sz="2400"/>
          </a:p>
        </p:txBody>
      </p:sp>
    </p:spTree>
  </p:cSld>
  <p:clrMapOvr>
    <a:masterClrMapping/>
  </p:clrMapOvr>
  <p:transition>
    <p:wheel spokes="3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6DAD4-0DE7-41C3-A449-B8F2B147C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1224136"/>
          </a:xfrm>
        </p:spPr>
        <p:txBody>
          <a:bodyPr/>
          <a:lstStyle/>
          <a:p>
            <a:pPr algn="ctr"/>
            <a:r>
              <a:rPr lang="es-CR" sz="4000" dirty="0">
                <a:solidFill>
                  <a:schemeClr val="tx2"/>
                </a:solidFill>
                <a:latin typeface="Franklin Gothic Book" pitchFamily="34" charset="0"/>
              </a:rPr>
              <a:t>Características de la curva normal</a:t>
            </a: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C8AC9ED-A347-4C1E-AC90-0A688D122E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D1B16C5-D945-4393-B2D5-D2C9BBF459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18002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C847AF-DE90-480F-BFC0-3A127215A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87" y="1616226"/>
            <a:ext cx="8280426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0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2 Marcador de contenido"/>
          <p:cNvSpPr>
            <a:spLocks noGrp="1"/>
          </p:cNvSpPr>
          <p:nvPr>
            <p:ph sz="quarter" idx="1"/>
          </p:nvPr>
        </p:nvSpPr>
        <p:spPr>
          <a:xfrm>
            <a:off x="323850" y="1428750"/>
            <a:ext cx="8031163" cy="5024438"/>
          </a:xfrm>
        </p:spPr>
        <p:txBody>
          <a:bodyPr/>
          <a:lstStyle/>
          <a:p>
            <a:pPr marL="381000" indent="-381000" eaLnBrk="1" hangingPunct="1">
              <a:buFont typeface="Wingdings 2" pitchFamily="18" charset="2"/>
              <a:buNone/>
            </a:pPr>
            <a:r>
              <a:rPr lang="es-CR" dirty="0"/>
              <a:t>Hay varias razones que han contribuido a que la curva normal sea</a:t>
            </a:r>
          </a:p>
          <a:p>
            <a:pPr marL="381000" indent="-381000" eaLnBrk="1" hangingPunct="1">
              <a:buFont typeface="Wingdings 2" pitchFamily="18" charset="2"/>
              <a:buNone/>
            </a:pPr>
            <a:r>
              <a:rPr lang="es-CR" dirty="0"/>
              <a:t> vital en la teoría y en la práctica de la estadística:</a:t>
            </a:r>
          </a:p>
          <a:p>
            <a:pPr marL="381000" indent="-381000" eaLnBrk="1" hangingPunct="1">
              <a:buFont typeface="Wingdings 2" pitchFamily="18" charset="2"/>
              <a:buNone/>
            </a:pPr>
            <a:endParaRPr lang="es-CR" dirty="0"/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/>
              <a:t>La curva y su integral reúnen diversas ventajas matemáticas-analíticas. 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/>
              <a:t>Son muchos los fenómenos que se comportan como una curva normal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/>
              <a:t>La técnica se pueden aplicar ha técnicas aún más avanzadas.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/>
              <a:t>Variables que tienen distribuciones asimétrica pueden tratarse con una transformación y gozar de las ventajas de la normal </a:t>
            </a:r>
          </a:p>
          <a:p>
            <a:pPr marL="381000" indent="-381000" eaLnBrk="1" hangingPunct="1">
              <a:buFont typeface="Wingdings 2" pitchFamily="18" charset="2"/>
              <a:buNone/>
            </a:pPr>
            <a:endParaRPr lang="es-CR" dirty="0"/>
          </a:p>
        </p:txBody>
      </p:sp>
      <p:sp>
        <p:nvSpPr>
          <p:cNvPr id="2560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Importancia de la curva normal </a:t>
            </a:r>
          </a:p>
        </p:txBody>
      </p:sp>
    </p:spTree>
  </p:cSld>
  <p:clrMapOvr>
    <a:masterClrMapping/>
  </p:clrMapOvr>
  <p:transition>
    <p:whee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250825" y="0"/>
            <a:ext cx="8497888" cy="1143000"/>
          </a:xfrm>
        </p:spPr>
        <p:txBody>
          <a:bodyPr/>
          <a:lstStyle/>
          <a:p>
            <a:pPr algn="ctr" eaLnBrk="1" hangingPunct="1"/>
            <a:r>
              <a:rPr lang="es-ES_tradnl"/>
              <a:t>La curva normal y las probabilidades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7772400" cy="4572000"/>
          </a:xfrm>
        </p:spPr>
        <p:txBody>
          <a:bodyPr/>
          <a:lstStyle/>
          <a:p>
            <a:pPr eaLnBrk="1" hangingPunct="1"/>
            <a:r>
              <a:rPr lang="es-ES_tradnl"/>
              <a:t>De acuerdo con la propiedad 1, se pueden calcular probabilidades con la curva normal. Lo que interesa es poder calcular la probabilidad acumulada de un punto a otro.</a:t>
            </a:r>
          </a:p>
          <a:p>
            <a:pPr eaLnBrk="1" hangingPunct="1"/>
            <a:endParaRPr lang="es-ES_tradnl"/>
          </a:p>
          <a:p>
            <a:pPr eaLnBrk="1" hangingPunct="1"/>
            <a:endParaRPr lang="es-ES_tradnl"/>
          </a:p>
        </p:txBody>
      </p:sp>
      <p:pic>
        <p:nvPicPr>
          <p:cNvPr id="2662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3141663"/>
            <a:ext cx="5000625" cy="336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/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00750" y="3500438"/>
            <a:ext cx="239236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7 CuadroTexto"/>
          <p:cNvSpPr txBox="1">
            <a:spLocks noChangeArrowheads="1"/>
          </p:cNvSpPr>
          <p:nvPr/>
        </p:nvSpPr>
        <p:spPr bwMode="auto">
          <a:xfrm>
            <a:off x="2000250" y="6059488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a</a:t>
            </a:r>
          </a:p>
        </p:txBody>
      </p:sp>
      <p:sp>
        <p:nvSpPr>
          <p:cNvPr id="26632" name="8 CuadroTexto"/>
          <p:cNvSpPr txBox="1">
            <a:spLocks noChangeArrowheads="1"/>
          </p:cNvSpPr>
          <p:nvPr/>
        </p:nvSpPr>
        <p:spPr bwMode="auto">
          <a:xfrm>
            <a:off x="3214688" y="6000750"/>
            <a:ext cx="500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b</a:t>
            </a:r>
          </a:p>
        </p:txBody>
      </p:sp>
    </p:spTree>
  </p:cSld>
  <p:clrMapOvr>
    <a:masterClrMapping/>
  </p:clrMapOvr>
  <p:transition>
    <p:wheel spokes="8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2 Marcador de contenido"/>
          <p:cNvSpPr>
            <a:spLocks noGrp="1"/>
          </p:cNvSpPr>
          <p:nvPr>
            <p:ph sz="quarter" idx="1"/>
          </p:nvPr>
        </p:nvSpPr>
        <p:spPr>
          <a:xfrm>
            <a:off x="323850" y="1071563"/>
            <a:ext cx="7772400" cy="4572000"/>
          </a:xfrm>
        </p:spPr>
        <p:txBody>
          <a:bodyPr/>
          <a:lstStyle/>
          <a:p>
            <a:pPr eaLnBrk="1" hangingPunct="1"/>
            <a:r>
              <a:rPr lang="es-CR" sz="2400"/>
              <a:t>Antes de explicar la forma de calcular las probabilidades, aunque se puede calcular la probabilidad directamente de la ecuación de la normal estándar, para facilitar los cálculos y los procedimientos procederemos a estandarizar los resultados y utilizar entonces la curva normal estándar, de parámtros  </a:t>
            </a:r>
            <a:r>
              <a:rPr lang="es-ES" sz="2400" i="1"/>
              <a:t>µ</a:t>
            </a:r>
            <a:r>
              <a:rPr lang="es-CR" sz="2400"/>
              <a:t>=0 y </a:t>
            </a:r>
            <a:r>
              <a:rPr lang="es-CR" sz="2400" i="1"/>
              <a:t>σ </a:t>
            </a:r>
            <a:r>
              <a:rPr lang="es-CR" sz="2400"/>
              <a:t>=1.</a:t>
            </a:r>
          </a:p>
        </p:txBody>
      </p:sp>
      <p:sp>
        <p:nvSpPr>
          <p:cNvPr id="27651" name="Rectangle 8"/>
          <p:cNvSpPr>
            <a:spLocks/>
          </p:cNvSpPr>
          <p:nvPr/>
        </p:nvSpPr>
        <p:spPr bwMode="auto">
          <a:xfrm>
            <a:off x="250825" y="0"/>
            <a:ext cx="8497888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ES_tradnl" sz="4000">
                <a:solidFill>
                  <a:schemeClr val="tx2"/>
                </a:solidFill>
                <a:latin typeface="Franklin Gothic Book" pitchFamily="34" charset="0"/>
              </a:rPr>
              <a:t>La curva normal y las probabilidades</a:t>
            </a:r>
          </a:p>
        </p:txBody>
      </p:sp>
      <p:pic>
        <p:nvPicPr>
          <p:cNvPr id="27652" name="Picture 10" descr="http://files.chess.com/images_users/tiny_mce/kurtgodden/normal_distribution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3000375"/>
            <a:ext cx="7143750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estándar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/>
            <a:r>
              <a:rPr lang="es-CR" sz="2400" dirty="0"/>
              <a:t>Mientras que la curva normal está en función del parámetro </a:t>
            </a:r>
            <a:r>
              <a:rPr lang="es-ES" sz="2400" i="1" dirty="0"/>
              <a:t>µ y </a:t>
            </a:r>
            <a:r>
              <a:rPr lang="es-CR" sz="2400" i="1" dirty="0"/>
              <a:t>σ</a:t>
            </a:r>
            <a:r>
              <a:rPr lang="es-CR" sz="2400" dirty="0"/>
              <a:t>, la normal estándar está en función de</a:t>
            </a:r>
            <a:r>
              <a:rPr lang="es-ES" sz="2400" i="1" dirty="0"/>
              <a:t> µ=0 </a:t>
            </a:r>
            <a:r>
              <a:rPr lang="es-CR" sz="2400" dirty="0"/>
              <a:t>y </a:t>
            </a:r>
            <a:r>
              <a:rPr lang="es-CR" sz="2400" i="1" dirty="0"/>
              <a:t>σ </a:t>
            </a:r>
            <a:r>
              <a:rPr lang="es-CR" sz="2400" dirty="0"/>
              <a:t>=1. En el fondo los resultados en probabilidad son los mismos, pero la opción “estandarizada “es más sencilla de utilizar.</a:t>
            </a:r>
          </a:p>
        </p:txBody>
      </p:sp>
      <p:sp>
        <p:nvSpPr>
          <p:cNvPr id="2867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25538"/>
          </a:xfrm>
        </p:spPr>
        <p:txBody>
          <a:bodyPr/>
          <a:lstStyle/>
          <a:p>
            <a:pPr algn="ctr" eaLnBrk="1" hangingPunct="1"/>
            <a:r>
              <a:rPr lang="es-CR"/>
              <a:t>La curva normal vs normal estándar</a:t>
            </a: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3213100"/>
            <a:ext cx="3744912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9700" y="5643563"/>
            <a:ext cx="3552825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3213100"/>
            <a:ext cx="3671887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5607050"/>
            <a:ext cx="3605212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7 CuadroTexto"/>
          <p:cNvSpPr txBox="1">
            <a:spLocks noChangeArrowheads="1"/>
          </p:cNvSpPr>
          <p:nvPr/>
        </p:nvSpPr>
        <p:spPr bwMode="auto">
          <a:xfrm>
            <a:off x="2000250" y="5143500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</a:t>
            </a:r>
            <a:endParaRPr lang="es-CR"/>
          </a:p>
        </p:txBody>
      </p:sp>
      <p:sp>
        <p:nvSpPr>
          <p:cNvPr id="28681" name="13 CuadroTexto"/>
          <p:cNvSpPr txBox="1">
            <a:spLocks noChangeArrowheads="1"/>
          </p:cNvSpPr>
          <p:nvPr/>
        </p:nvSpPr>
        <p:spPr bwMode="auto">
          <a:xfrm>
            <a:off x="2357438" y="5143500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µ+</a:t>
            </a:r>
            <a:r>
              <a:rPr lang="es-CR" i="1"/>
              <a:t> σ</a:t>
            </a:r>
            <a:endParaRPr lang="es-CR"/>
          </a:p>
        </p:txBody>
      </p:sp>
      <p:sp>
        <p:nvSpPr>
          <p:cNvPr id="28682" name="14 CuadroTexto"/>
          <p:cNvSpPr txBox="1">
            <a:spLocks noChangeArrowheads="1"/>
          </p:cNvSpPr>
          <p:nvPr/>
        </p:nvSpPr>
        <p:spPr bwMode="auto">
          <a:xfrm>
            <a:off x="2928938" y="513080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µ+</a:t>
            </a:r>
            <a:r>
              <a:rPr lang="es-CR" i="1"/>
              <a:t> 2σ</a:t>
            </a:r>
            <a:endParaRPr lang="es-CR"/>
          </a:p>
        </p:txBody>
      </p:sp>
      <p:sp>
        <p:nvSpPr>
          <p:cNvPr id="28683" name="15 CuadroTexto"/>
          <p:cNvSpPr txBox="1">
            <a:spLocks noChangeArrowheads="1"/>
          </p:cNvSpPr>
          <p:nvPr/>
        </p:nvSpPr>
        <p:spPr bwMode="auto">
          <a:xfrm>
            <a:off x="1357313" y="5130800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µ-</a:t>
            </a:r>
            <a:r>
              <a:rPr lang="es-CR" i="1"/>
              <a:t> σ</a:t>
            </a:r>
            <a:endParaRPr lang="es-CR"/>
          </a:p>
        </p:txBody>
      </p:sp>
      <p:sp>
        <p:nvSpPr>
          <p:cNvPr id="28684" name="16 CuadroTexto"/>
          <p:cNvSpPr txBox="1">
            <a:spLocks noChangeArrowheads="1"/>
          </p:cNvSpPr>
          <p:nvPr/>
        </p:nvSpPr>
        <p:spPr bwMode="auto">
          <a:xfrm>
            <a:off x="642938" y="514350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µ-</a:t>
            </a:r>
            <a:r>
              <a:rPr lang="es-CR" i="1"/>
              <a:t> 2σ</a:t>
            </a:r>
            <a:endParaRPr lang="es-CR"/>
          </a:p>
        </p:txBody>
      </p:sp>
      <p:sp>
        <p:nvSpPr>
          <p:cNvPr id="28685" name="18 CuadroTexto"/>
          <p:cNvSpPr txBox="1">
            <a:spLocks noChangeArrowheads="1"/>
          </p:cNvSpPr>
          <p:nvPr/>
        </p:nvSpPr>
        <p:spPr bwMode="auto">
          <a:xfrm>
            <a:off x="6858000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0</a:t>
            </a:r>
          </a:p>
        </p:txBody>
      </p:sp>
      <p:sp>
        <p:nvSpPr>
          <p:cNvPr id="28686" name="19 CuadroTexto"/>
          <p:cNvSpPr txBox="1">
            <a:spLocks noChangeArrowheads="1"/>
          </p:cNvSpPr>
          <p:nvPr/>
        </p:nvSpPr>
        <p:spPr bwMode="auto">
          <a:xfrm>
            <a:off x="7286625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1</a:t>
            </a:r>
          </a:p>
        </p:txBody>
      </p:sp>
      <p:sp>
        <p:nvSpPr>
          <p:cNvPr id="28687" name="20 CuadroTexto"/>
          <p:cNvSpPr txBox="1">
            <a:spLocks noChangeArrowheads="1"/>
          </p:cNvSpPr>
          <p:nvPr/>
        </p:nvSpPr>
        <p:spPr bwMode="auto">
          <a:xfrm>
            <a:off x="7858125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2</a:t>
            </a:r>
          </a:p>
        </p:txBody>
      </p:sp>
      <p:sp>
        <p:nvSpPr>
          <p:cNvPr id="28688" name="21 CuadroTexto"/>
          <p:cNvSpPr txBox="1">
            <a:spLocks noChangeArrowheads="1"/>
          </p:cNvSpPr>
          <p:nvPr/>
        </p:nvSpPr>
        <p:spPr bwMode="auto">
          <a:xfrm>
            <a:off x="6215063" y="50593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-1</a:t>
            </a:r>
          </a:p>
        </p:txBody>
      </p:sp>
      <p:sp>
        <p:nvSpPr>
          <p:cNvPr id="28689" name="22 CuadroTexto"/>
          <p:cNvSpPr txBox="1">
            <a:spLocks noChangeArrowheads="1"/>
          </p:cNvSpPr>
          <p:nvPr/>
        </p:nvSpPr>
        <p:spPr bwMode="auto">
          <a:xfrm>
            <a:off x="5643563" y="50720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-2</a:t>
            </a:r>
          </a:p>
        </p:txBody>
      </p:sp>
      <p:sp>
        <p:nvSpPr>
          <p:cNvPr id="28690" name="23 CuadroTexto"/>
          <p:cNvSpPr txBox="1">
            <a:spLocks noChangeArrowheads="1"/>
          </p:cNvSpPr>
          <p:nvPr/>
        </p:nvSpPr>
        <p:spPr bwMode="auto">
          <a:xfrm>
            <a:off x="5214938" y="50720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-3</a:t>
            </a:r>
          </a:p>
        </p:txBody>
      </p:sp>
      <p:sp>
        <p:nvSpPr>
          <p:cNvPr id="28691" name="24 CuadroTexto"/>
          <p:cNvSpPr txBox="1">
            <a:spLocks noChangeArrowheads="1"/>
          </p:cNvSpPr>
          <p:nvPr/>
        </p:nvSpPr>
        <p:spPr bwMode="auto">
          <a:xfrm>
            <a:off x="8286750" y="5072063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3</a:t>
            </a:r>
          </a:p>
        </p:txBody>
      </p:sp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2 Marcador de contenido"/>
          <p:cNvSpPr>
            <a:spLocks noGrp="1"/>
          </p:cNvSpPr>
          <p:nvPr>
            <p:ph sz="quarter" idx="1"/>
          </p:nvPr>
        </p:nvSpPr>
        <p:spPr>
          <a:xfrm>
            <a:off x="179388" y="1052513"/>
            <a:ext cx="8064500" cy="5545137"/>
          </a:xfrm>
        </p:spPr>
        <p:txBody>
          <a:bodyPr/>
          <a:lstStyle/>
          <a:p>
            <a:pPr eaLnBrk="1" hangingPunct="1"/>
            <a:r>
              <a:rPr lang="es-CR" sz="2200"/>
              <a:t>Una curva normal queda definida si se conoce su media aritmética y su desviación estándar, pero como los valores posibles para </a:t>
            </a:r>
            <a:r>
              <a:rPr lang="es-ES" sz="2000" i="1"/>
              <a:t>µ y </a:t>
            </a:r>
            <a:r>
              <a:rPr lang="es-CR" sz="2000" i="1"/>
              <a:t>σ</a:t>
            </a:r>
            <a:r>
              <a:rPr lang="es-CR" sz="2000"/>
              <a:t> </a:t>
            </a:r>
            <a:r>
              <a:rPr lang="es-CR" sz="2200"/>
              <a:t>son prácticamente infinitos, es fácil concluir que el número de curvas normales es también infinito.</a:t>
            </a:r>
          </a:p>
          <a:p>
            <a:pPr eaLnBrk="1" hangingPunct="1"/>
            <a:endParaRPr lang="es-CR" sz="2200"/>
          </a:p>
          <a:p>
            <a:pPr eaLnBrk="1" hangingPunct="1"/>
            <a:r>
              <a:rPr lang="es-CR" sz="2200"/>
              <a:t>Entonces, cómo el número de curvas normales es infinito, se ha calculado una tabla de probabilidades para una curva normal con </a:t>
            </a:r>
            <a:r>
              <a:rPr lang="es-ES" sz="2400" i="1"/>
              <a:t>µ </a:t>
            </a:r>
            <a:r>
              <a:rPr lang="es-CR" sz="2200"/>
              <a:t>= 0 y </a:t>
            </a:r>
            <a:r>
              <a:rPr lang="es-CR" sz="2400" i="1"/>
              <a:t>σ </a:t>
            </a:r>
            <a:r>
              <a:rPr lang="es-CR" sz="2200"/>
              <a:t>=1, y cualquier problema referente a una variable normal se traslada o refiere a la tabla mencionada mediante simples operaciones algebraicas, conocida como </a:t>
            </a:r>
            <a:r>
              <a:rPr lang="es-CR" sz="2200" i="1"/>
              <a:t>curva normal estándar</a:t>
            </a:r>
            <a:r>
              <a:rPr lang="es-CR" sz="2200"/>
              <a:t>.</a:t>
            </a:r>
          </a:p>
          <a:p>
            <a:pPr eaLnBrk="1" hangingPunct="1"/>
            <a:endParaRPr lang="es-CR" sz="2200"/>
          </a:p>
          <a:p>
            <a:pPr eaLnBrk="1" hangingPunct="1"/>
            <a:r>
              <a:rPr lang="es-CR" sz="2200"/>
              <a:t>Se quiere</a:t>
            </a:r>
            <a:r>
              <a:rPr lang="es-CR" sz="2000"/>
              <a:t> </a:t>
            </a:r>
            <a:r>
              <a:rPr lang="es-CR" sz="2200"/>
              <a:t>alguna probabilidad para una variable normal que tenga el promedio diferente de cero, la desviación estándar diferente de 1, o ambos parámetros diferentes. Por lo tanto se realiza transformación algebraica sencilla denominada estandarización, mediante el traslado a una N</a:t>
            </a:r>
            <a:r>
              <a:rPr lang="en-US" sz="2200"/>
              <a:t>~</a:t>
            </a:r>
            <a:r>
              <a:rPr lang="es-CR" sz="2200"/>
              <a:t>(0,1).</a:t>
            </a:r>
            <a:endParaRPr lang="es-CR" sz="2000"/>
          </a:p>
        </p:txBody>
      </p:sp>
      <p:sp>
        <p:nvSpPr>
          <p:cNvPr id="29699" name="1 Título"/>
          <p:cNvSpPr>
            <a:spLocks/>
          </p:cNvSpPr>
          <p:nvPr/>
        </p:nvSpPr>
        <p:spPr bwMode="auto">
          <a:xfrm>
            <a:off x="285750" y="0"/>
            <a:ext cx="85725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CR" sz="4000">
                <a:solidFill>
                  <a:schemeClr val="tx2"/>
                </a:solidFill>
                <a:latin typeface="Franklin Gothic Book" pitchFamily="34" charset="0"/>
              </a:rPr>
              <a:t>La curva normal vs normal estándar</a:t>
            </a:r>
          </a:p>
        </p:txBody>
      </p:sp>
    </p:spTree>
  </p:cSld>
  <p:clrMapOvr>
    <a:masterClrMapping/>
  </p:clrMapOvr>
  <p:transition>
    <p:spli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estándar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Cálculo de probabilidades en la normal estándar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285720" y="1285860"/>
            <a:ext cx="8643998" cy="5572140"/>
          </a:xfrm>
        </p:spPr>
        <p:txBody>
          <a:bodyPr/>
          <a:lstStyle/>
          <a:p>
            <a:pPr eaLnBrk="1" hangingPunct="1"/>
            <a:r>
              <a:rPr lang="es-ES_tradnl" sz="2400" dirty="0"/>
              <a:t>Para calcular probabilidades en una distribución N(0,1) supongamos lo siguiente.</a:t>
            </a:r>
          </a:p>
          <a:p>
            <a:pPr eaLnBrk="1" hangingPunct="1"/>
            <a:endParaRPr lang="es-ES_tradnl" sz="2400" dirty="0"/>
          </a:p>
          <a:p>
            <a:pPr eaLnBrk="1" hangingPunct="1">
              <a:buNone/>
            </a:pPr>
            <a:r>
              <a:rPr lang="es-ES_tradnl" sz="2400" dirty="0"/>
              <a:t>1.   Sea “</a:t>
            </a:r>
            <a:r>
              <a:rPr lang="es-ES_tradnl" sz="2400" i="1" dirty="0"/>
              <a:t>z</a:t>
            </a:r>
            <a:r>
              <a:rPr lang="es-ES_tradnl" sz="2400" dirty="0"/>
              <a:t>” una variable normal estándar aleatoria.</a:t>
            </a:r>
          </a:p>
          <a:p>
            <a:pPr eaLnBrk="1" hangingPunct="1">
              <a:buNone/>
            </a:pPr>
            <a:r>
              <a:rPr lang="es-ES_tradnl" sz="2400" dirty="0"/>
              <a:t>2.	  Sea N(t) el área acumulada de la curva hasta el punto “t” (t es un valor particular de </a:t>
            </a:r>
            <a:r>
              <a:rPr lang="es-ES_tradnl" sz="2400" i="1" dirty="0"/>
              <a:t>z</a:t>
            </a:r>
            <a:r>
              <a:rPr lang="es-ES_tradnl" sz="2400" dirty="0"/>
              <a:t>).</a:t>
            </a:r>
          </a:p>
          <a:p>
            <a:pPr eaLnBrk="1" hangingPunct="1">
              <a:buNone/>
            </a:pPr>
            <a:endParaRPr lang="es-ES_tradnl" sz="2400" i="1" dirty="0"/>
          </a:p>
          <a:p>
            <a:pPr eaLnBrk="1" hangingPunct="1"/>
            <a:r>
              <a:rPr lang="es-ES_tradnl" sz="2400" dirty="0"/>
              <a:t>Entonces, para expresar esto en término de probabilidades, unimos las dos suposiciones de la siguiente forma:</a:t>
            </a:r>
          </a:p>
          <a:p>
            <a:pPr eaLnBrk="1" hangingPunct="1"/>
            <a:endParaRPr lang="es-ES_tradnl" sz="2400" dirty="0"/>
          </a:p>
          <a:p>
            <a:pPr eaLnBrk="1" hangingPunct="1">
              <a:buNone/>
            </a:pPr>
            <a:r>
              <a:rPr lang="es-ES_tradnl" sz="2400" dirty="0"/>
              <a:t>	N(t) = P(z ≤ t); esto en palabras quiere decir que, para una variable aleatoria z, cuál es la probabilidad de que está variable tenga valores menores o iguales al valor t</a:t>
            </a:r>
          </a:p>
        </p:txBody>
      </p:sp>
    </p:spTree>
  </p:cSld>
  <p:clrMapOvr>
    <a:masterClrMapping/>
  </p:clrMapOvr>
  <p:transition>
    <p:split orient="vert"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357298"/>
            <a:ext cx="8786842" cy="5500702"/>
          </a:xfrm>
        </p:spPr>
        <p:txBody>
          <a:bodyPr/>
          <a:lstStyle/>
          <a:p>
            <a:r>
              <a:rPr lang="es-CR" dirty="0"/>
              <a:t>Para explicar lo anterior, sea el siguiente dibujo. Considere los términos vistos antes (“t”, “N(t)” y “</a:t>
            </a:r>
            <a:r>
              <a:rPr lang="es-CR" sz="2800" dirty="0"/>
              <a:t>N(t)=</a:t>
            </a:r>
            <a:r>
              <a:rPr lang="es-ES_tradnl" sz="2800" dirty="0"/>
              <a:t>P(z ≤ t)”; 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2500306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4 CuadroTexto"/>
          <p:cNvSpPr txBox="1">
            <a:spLocks noChangeArrowheads="1"/>
          </p:cNvSpPr>
          <p:nvPr/>
        </p:nvSpPr>
        <p:spPr bwMode="auto">
          <a:xfrm>
            <a:off x="285727" y="5715016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7" name="5 CuadroTexto"/>
          <p:cNvSpPr txBox="1">
            <a:spLocks noChangeArrowheads="1"/>
          </p:cNvSpPr>
          <p:nvPr/>
        </p:nvSpPr>
        <p:spPr bwMode="auto">
          <a:xfrm>
            <a:off x="7858148" y="5715016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cxnSp>
        <p:nvCxnSpPr>
          <p:cNvPr id="9" name="8 Conector recto"/>
          <p:cNvCxnSpPr/>
          <p:nvPr/>
        </p:nvCxnSpPr>
        <p:spPr>
          <a:xfrm rot="16200000" flipH="1">
            <a:off x="3286116" y="4714884"/>
            <a:ext cx="30003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286248" y="3143248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4143372" y="328612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071934" y="3429000"/>
            <a:ext cx="71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000496" y="3571876"/>
            <a:ext cx="78581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4000496" y="3714752"/>
            <a:ext cx="78581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3929058" y="3857628"/>
            <a:ext cx="85725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3857620" y="4000504"/>
            <a:ext cx="928694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3786182" y="4143380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786182" y="4286256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714744" y="4429132"/>
            <a:ext cx="107157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643306" y="4572008"/>
            <a:ext cx="114300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571868" y="4714884"/>
            <a:ext cx="121444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3500430" y="4857760"/>
            <a:ext cx="1285884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3428992" y="5000636"/>
            <a:ext cx="1357322" cy="4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3357554" y="5143512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3286116" y="5286388"/>
            <a:ext cx="150019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3214678" y="5429264"/>
            <a:ext cx="157163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3071802" y="5572140"/>
            <a:ext cx="1714512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3000364" y="5715016"/>
            <a:ext cx="1785950" cy="4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2714612" y="5857892"/>
            <a:ext cx="2071702" cy="5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2143108" y="6000768"/>
            <a:ext cx="2643206" cy="66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1285852" y="6072206"/>
            <a:ext cx="357190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56 CuadroTexto"/>
          <p:cNvSpPr txBox="1"/>
          <p:nvPr/>
        </p:nvSpPr>
        <p:spPr>
          <a:xfrm>
            <a:off x="4500562" y="628652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i="1" dirty="0"/>
              <a:t>t</a:t>
            </a:r>
          </a:p>
        </p:txBody>
      </p:sp>
      <p:cxnSp>
        <p:nvCxnSpPr>
          <p:cNvPr id="59" name="58 Conector recto de flecha"/>
          <p:cNvCxnSpPr/>
          <p:nvPr/>
        </p:nvCxnSpPr>
        <p:spPr>
          <a:xfrm rot="10800000">
            <a:off x="2786050" y="4071942"/>
            <a:ext cx="1357322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59 CuadroTexto"/>
          <p:cNvSpPr txBox="1"/>
          <p:nvPr/>
        </p:nvSpPr>
        <p:spPr>
          <a:xfrm>
            <a:off x="1928794" y="385762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N(t)</a:t>
            </a:r>
            <a:endParaRPr lang="es-CR" dirty="0"/>
          </a:p>
        </p:txBody>
      </p:sp>
      <p:sp>
        <p:nvSpPr>
          <p:cNvPr id="62" name="61 CuadroTexto"/>
          <p:cNvSpPr txBox="1"/>
          <p:nvPr/>
        </p:nvSpPr>
        <p:spPr>
          <a:xfrm>
            <a:off x="5572132" y="3429000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N(t) = </a:t>
            </a:r>
            <a:r>
              <a:rPr lang="es-ES_tradnl" dirty="0"/>
              <a:t>P(z ≤ t)  = ???</a:t>
            </a:r>
            <a:endParaRPr lang="es-CR" dirty="0"/>
          </a:p>
        </p:txBody>
      </p:sp>
    </p:spTree>
  </p:cSld>
  <p:clrMapOvr>
    <a:masterClrMapping/>
  </p:clrMapOvr>
  <p:transition>
    <p:split orient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47342" y="1268760"/>
            <a:ext cx="8501122" cy="5429264"/>
          </a:xfrm>
        </p:spPr>
        <p:txBody>
          <a:bodyPr/>
          <a:lstStyle/>
          <a:p>
            <a:r>
              <a:rPr lang="es-CR" dirty="0"/>
              <a:t>Ahora bien, explicado los dos conceptos anteriores, la gran pregunta es:</a:t>
            </a:r>
          </a:p>
          <a:p>
            <a:endParaRPr lang="es-CR" dirty="0"/>
          </a:p>
          <a:p>
            <a:pPr algn="ctr">
              <a:buNone/>
            </a:pPr>
            <a:r>
              <a:rPr lang="es-CR" sz="6000" dirty="0"/>
              <a:t>¡¿ Cómo se calculan las probabilidad?!</a:t>
            </a:r>
          </a:p>
          <a:p>
            <a:endParaRPr lang="es-CR" sz="2400" dirty="0"/>
          </a:p>
          <a:p>
            <a:r>
              <a:rPr lang="es-CR" sz="2400" dirty="0"/>
              <a:t>Para esto entonces utilicemos la siguiente tabla de probabilidad es una normal estándar (siguientes dos filminas), y recordemos que:</a:t>
            </a:r>
          </a:p>
          <a:p>
            <a:pPr>
              <a:buNone/>
            </a:pPr>
            <a:r>
              <a:rPr lang="es-CR" sz="2400" dirty="0"/>
              <a:t>	-El área total bajo la curva suma 1.</a:t>
            </a:r>
          </a:p>
          <a:p>
            <a:pPr>
              <a:buNone/>
            </a:pPr>
            <a:r>
              <a:rPr lang="es-CR" sz="2400" dirty="0"/>
              <a:t>	-La curva es simétrica con respecto al promedio.</a:t>
            </a:r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</p:spTree>
  </p:cSld>
  <p:clrMapOvr>
    <a:masterClrMapping/>
  </p:clrMapOvr>
  <p:transition>
    <p:strips dir="l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3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285720" y="1428736"/>
            <a:ext cx="8358246" cy="5214974"/>
          </a:xfrm>
        </p:spPr>
        <p:txBody>
          <a:bodyPr/>
          <a:lstStyle/>
          <a:p>
            <a:pPr eaLnBrk="1" hangingPunct="1"/>
            <a:r>
              <a:rPr lang="es-ES_tradnl" dirty="0"/>
              <a:t>Esta tabla se conoce como “tablas de dos colas”; esto permite conocer directamente las probabilidades acumuladas, tanto de valores positivos como de valores negativos de la variable aleatoria z.</a:t>
            </a:r>
          </a:p>
          <a:p>
            <a:pPr eaLnBrk="1" hangingPunct="1"/>
            <a:endParaRPr lang="es-ES_tradnl" dirty="0"/>
          </a:p>
          <a:p>
            <a:pPr eaLnBrk="1" hangingPunct="1"/>
            <a:r>
              <a:rPr lang="es-ES_tradnl" dirty="0"/>
              <a:t>En el empleo de la tabla se debe tomar en cuenta que:</a:t>
            </a:r>
          </a:p>
          <a:p>
            <a:pPr marL="514350" indent="-514350" eaLnBrk="1" hangingPunct="1">
              <a:buAutoNum type="alphaLcPeriod"/>
            </a:pPr>
            <a:r>
              <a:rPr lang="es-ES_tradnl" dirty="0"/>
              <a:t>En la primera columna aparecen los valores de z con un decimal;</a:t>
            </a:r>
          </a:p>
          <a:p>
            <a:pPr marL="514350" indent="-514350" eaLnBrk="1" hangingPunct="1">
              <a:buAutoNum type="alphaLcPeriod"/>
            </a:pPr>
            <a:r>
              <a:rPr lang="es-ES_tradnl" dirty="0"/>
              <a:t>En la primera hilera aparece el segundo decimal para dar mayor precisión a la tabla.</a:t>
            </a:r>
          </a:p>
          <a:p>
            <a:pPr marL="514350" indent="-514350" eaLnBrk="1" hangingPunct="1">
              <a:buAutoNum type="alphaLcPeriod"/>
            </a:pPr>
            <a:r>
              <a:rPr lang="es-ES_tradnl" dirty="0"/>
              <a:t>En el cuerpo de la tabla se muestra el área acumulada desde </a:t>
            </a:r>
            <a:r>
              <a:rPr lang="es-CR" i="1" dirty="0"/>
              <a:t>-∞ </a:t>
            </a:r>
            <a:r>
              <a:rPr lang="es-CR" dirty="0"/>
              <a:t>hasta un valor positivo dado de z</a:t>
            </a:r>
            <a:endParaRPr lang="es-ES_tradnl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</p:spTree>
  </p:cSld>
  <p:clrMapOvr>
    <a:masterClrMapping/>
  </p:clrMapOvr>
  <p:transition>
    <p:circl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572560" cy="5286412"/>
          </a:xfrm>
        </p:spPr>
        <p:txBody>
          <a:bodyPr/>
          <a:lstStyle/>
          <a:p>
            <a:r>
              <a:rPr lang="es-CR" dirty="0"/>
              <a:t>Por ejemplo, busquemos la siguiente probabilidad de </a:t>
            </a:r>
            <a:r>
              <a:rPr lang="es-ES_tradnl" sz="2800" dirty="0"/>
              <a:t>P(z ≤ 1.42):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285750" y="0"/>
            <a:ext cx="8643938" cy="1143000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0" y="2588430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4 CuadroTexto"/>
          <p:cNvSpPr txBox="1">
            <a:spLocks noChangeArrowheads="1"/>
          </p:cNvSpPr>
          <p:nvPr/>
        </p:nvSpPr>
        <p:spPr bwMode="auto">
          <a:xfrm>
            <a:off x="500034" y="5916634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10" name="5 CuadroTexto"/>
          <p:cNvSpPr txBox="1">
            <a:spLocks noChangeArrowheads="1"/>
          </p:cNvSpPr>
          <p:nvPr/>
        </p:nvSpPr>
        <p:spPr bwMode="auto">
          <a:xfrm>
            <a:off x="8072455" y="5916634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cxnSp>
        <p:nvCxnSpPr>
          <p:cNvPr id="11" name="10 Conector recto"/>
          <p:cNvCxnSpPr/>
          <p:nvPr/>
        </p:nvCxnSpPr>
        <p:spPr>
          <a:xfrm rot="5400000">
            <a:off x="5971386" y="6173013"/>
            <a:ext cx="487369" cy="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500555" y="3344866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4357679" y="3487742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4286241" y="3630618"/>
            <a:ext cx="85726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4214803" y="3773494"/>
            <a:ext cx="100013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214803" y="3916370"/>
            <a:ext cx="107157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143365" y="4059246"/>
            <a:ext cx="114301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071927" y="4202122"/>
            <a:ext cx="1285891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000489" y="4344998"/>
            <a:ext cx="142876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4000489" y="4487874"/>
            <a:ext cx="142876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3929051" y="4630750"/>
            <a:ext cx="157164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857613" y="4773626"/>
            <a:ext cx="178595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3786175" y="4916502"/>
            <a:ext cx="185739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714737" y="5059378"/>
            <a:ext cx="2000271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643299" y="5202254"/>
            <a:ext cx="214314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3571861" y="5345130"/>
            <a:ext cx="228602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500423" y="5488006"/>
            <a:ext cx="242889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428985" y="5630882"/>
            <a:ext cx="257177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286109" y="5773758"/>
            <a:ext cx="278608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214671" y="5916634"/>
            <a:ext cx="300040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2928919" y="6059510"/>
            <a:ext cx="328615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2357415" y="6202386"/>
            <a:ext cx="385765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500159" y="6273824"/>
            <a:ext cx="471491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35 CuadroTexto"/>
          <p:cNvSpPr txBox="1"/>
          <p:nvPr/>
        </p:nvSpPr>
        <p:spPr>
          <a:xfrm>
            <a:off x="5786439" y="3630618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P(z ≤ 1.42)  = 0.922</a:t>
            </a:r>
            <a:endParaRPr lang="es-CR" dirty="0"/>
          </a:p>
        </p:txBody>
      </p:sp>
      <p:graphicFrame>
        <p:nvGraphicFramePr>
          <p:cNvPr id="37" name="36 Tabla"/>
          <p:cNvGraphicFramePr>
            <a:graphicFrameLocks noGrp="1"/>
          </p:cNvGraphicFramePr>
          <p:nvPr/>
        </p:nvGraphicFramePr>
        <p:xfrm>
          <a:off x="214282" y="2643182"/>
          <a:ext cx="3048000" cy="156019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.9192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.9207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" name="48 Elipse"/>
          <p:cNvSpPr/>
          <p:nvPr/>
        </p:nvSpPr>
        <p:spPr>
          <a:xfrm>
            <a:off x="2428860" y="3357562"/>
            <a:ext cx="1071570" cy="85725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b="0" i="0" u="none" strike="noStrike" dirty="0">
                <a:solidFill>
                  <a:schemeClr val="bg1"/>
                </a:solidFill>
                <a:latin typeface="Calibri"/>
              </a:rPr>
              <a:t>.9222</a:t>
            </a:r>
          </a:p>
          <a:p>
            <a:pPr algn="ctr"/>
            <a:endParaRPr lang="es-CR" sz="1200" dirty="0">
              <a:solidFill>
                <a:schemeClr val="bg1"/>
              </a:solidFill>
            </a:endParaRPr>
          </a:p>
        </p:txBody>
      </p:sp>
      <p:sp>
        <p:nvSpPr>
          <p:cNvPr id="62" name="61 CuadroTexto"/>
          <p:cNvSpPr txBox="1"/>
          <p:nvPr/>
        </p:nvSpPr>
        <p:spPr>
          <a:xfrm>
            <a:off x="5857884" y="642939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1,42</a:t>
            </a:r>
          </a:p>
        </p:txBody>
      </p:sp>
    </p:spTree>
  </p:cSld>
  <p:clrMapOvr>
    <a:masterClrMapping/>
  </p:clrMapOvr>
  <p:transition>
    <p:circl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pPr algn="ctr" eaLnBrk="1" hangingPunct="1"/>
            <a:r>
              <a:rPr lang="es-ES_tradnl" dirty="0"/>
              <a:t>Probabilidades en distribución N (0,1)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79512" y="980728"/>
            <a:ext cx="4248472" cy="762000"/>
          </a:xfrm>
        </p:spPr>
        <p:txBody>
          <a:bodyPr/>
          <a:lstStyle/>
          <a:p>
            <a:r>
              <a:rPr lang="es-CR" dirty="0"/>
              <a:t>Probabilidad menor (boca a la izquierda).</a:t>
            </a:r>
          </a:p>
        </p:txBody>
      </p:sp>
      <p:sp>
        <p:nvSpPr>
          <p:cNvPr id="7" name="6 Marcador de texto"/>
          <p:cNvSpPr>
            <a:spLocks noGrp="1"/>
          </p:cNvSpPr>
          <p:nvPr>
            <p:ph type="body" sz="half" idx="3"/>
          </p:nvPr>
        </p:nvSpPr>
        <p:spPr>
          <a:xfrm>
            <a:off x="4788024" y="980728"/>
            <a:ext cx="4176464" cy="762000"/>
          </a:xfrm>
        </p:spPr>
        <p:txBody>
          <a:bodyPr/>
          <a:lstStyle/>
          <a:p>
            <a:r>
              <a:rPr lang="es-CR" dirty="0"/>
              <a:t>Probabilidad mayor (boca a la derecha).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half" idx="2"/>
          </p:nvPr>
        </p:nvSpPr>
        <p:spPr>
          <a:xfrm>
            <a:off x="179512" y="1916832"/>
            <a:ext cx="4248472" cy="4608512"/>
          </a:xfrm>
        </p:spPr>
        <p:txBody>
          <a:bodyPr/>
          <a:lstStyle/>
          <a:p>
            <a:r>
              <a:rPr lang="es-CR" dirty="0"/>
              <a:t>Cuando se solicita por ejemplo la siguiente probabilidad:</a:t>
            </a:r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pPr>
              <a:buNone/>
            </a:pPr>
            <a:endParaRPr lang="es-CR" dirty="0"/>
          </a:p>
          <a:p>
            <a:pPr>
              <a:buNone/>
            </a:pPr>
            <a:endParaRPr lang="es-CR" dirty="0"/>
          </a:p>
        </p:txBody>
      </p:sp>
      <p:sp>
        <p:nvSpPr>
          <p:cNvPr id="8" name="7 Marcador de contenido"/>
          <p:cNvSpPr>
            <a:spLocks noGrp="1"/>
          </p:cNvSpPr>
          <p:nvPr>
            <p:ph sz="half" idx="4"/>
          </p:nvPr>
        </p:nvSpPr>
        <p:spPr>
          <a:xfrm>
            <a:off x="4644008" y="1916832"/>
            <a:ext cx="4176464" cy="4608512"/>
          </a:xfrm>
        </p:spPr>
        <p:txBody>
          <a:bodyPr/>
          <a:lstStyle/>
          <a:p>
            <a:r>
              <a:rPr lang="es-CR" dirty="0"/>
              <a:t>Cuando se solicita por ejemplo la siguiente probabilidad: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077072"/>
            <a:ext cx="3096344" cy="2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143844"/>
            <a:ext cx="3096344" cy="2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5576" y="2852936"/>
            <a:ext cx="2520280" cy="829039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80112" y="2852936"/>
            <a:ext cx="2664296" cy="876413"/>
          </a:xfrm>
          <a:prstGeom prst="rect">
            <a:avLst/>
          </a:prstGeom>
          <a:noFill/>
        </p:spPr>
      </p:pic>
      <p:cxnSp>
        <p:nvCxnSpPr>
          <p:cNvPr id="50" name="49 Conector recto"/>
          <p:cNvCxnSpPr/>
          <p:nvPr/>
        </p:nvCxnSpPr>
        <p:spPr>
          <a:xfrm rot="5400000" flipH="1" flipV="1">
            <a:off x="2015716" y="605729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1835696" y="443711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1763688" y="4509120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1763688" y="4581128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1763688" y="4653136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1691680" y="479715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1691680" y="4869160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1619672" y="5013176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>
            <a:off x="1619672" y="5157192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1475656" y="5373216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1547664" y="5229200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475656" y="558924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>
            <a:off x="1403648" y="5805264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>
            <a:off x="1475656" y="56612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>
            <a:off x="1331640" y="5949280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>
            <a:off x="539552" y="630932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rot="10800000">
            <a:off x="1259632" y="616530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10800000">
            <a:off x="1259632" y="6093296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>
            <a:off x="1475656" y="5517232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>
            <a:off x="1475656" y="5445224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>
            <a:off x="1619672" y="4941168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>
            <a:off x="1619672" y="5085184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>
            <a:off x="1547664" y="5301208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>
            <a:off x="1691680" y="472514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>
            <a:off x="1403648" y="5733256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>
            <a:off x="1331640" y="5877272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102 Conector recto"/>
          <p:cNvCxnSpPr/>
          <p:nvPr/>
        </p:nvCxnSpPr>
        <p:spPr>
          <a:xfrm>
            <a:off x="1259632" y="6021288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104 Conector recto"/>
          <p:cNvCxnSpPr/>
          <p:nvPr/>
        </p:nvCxnSpPr>
        <p:spPr>
          <a:xfrm>
            <a:off x="1115616" y="6237312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105 CuadroTexto"/>
          <p:cNvSpPr txBox="1"/>
          <p:nvPr/>
        </p:nvSpPr>
        <p:spPr>
          <a:xfrm>
            <a:off x="2123728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</a:t>
            </a:r>
          </a:p>
        </p:txBody>
      </p:sp>
      <p:cxnSp>
        <p:nvCxnSpPr>
          <p:cNvPr id="107" name="106 Conector recto"/>
          <p:cNvCxnSpPr/>
          <p:nvPr/>
        </p:nvCxnSpPr>
        <p:spPr>
          <a:xfrm rot="5400000" flipH="1" flipV="1">
            <a:off x="6768244" y="605729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110 Conector recto"/>
          <p:cNvCxnSpPr/>
          <p:nvPr/>
        </p:nvCxnSpPr>
        <p:spPr>
          <a:xfrm>
            <a:off x="7092280" y="638132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12 Conector recto"/>
          <p:cNvCxnSpPr/>
          <p:nvPr/>
        </p:nvCxnSpPr>
        <p:spPr>
          <a:xfrm>
            <a:off x="7092280" y="6309320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114 Conector recto"/>
          <p:cNvCxnSpPr/>
          <p:nvPr/>
        </p:nvCxnSpPr>
        <p:spPr>
          <a:xfrm>
            <a:off x="7092280" y="6237312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117 Conector recto"/>
          <p:cNvCxnSpPr/>
          <p:nvPr/>
        </p:nvCxnSpPr>
        <p:spPr>
          <a:xfrm>
            <a:off x="7092280" y="6165304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119 Conector recto"/>
          <p:cNvCxnSpPr/>
          <p:nvPr/>
        </p:nvCxnSpPr>
        <p:spPr>
          <a:xfrm>
            <a:off x="7092280" y="6093296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121 Conector recto"/>
          <p:cNvCxnSpPr/>
          <p:nvPr/>
        </p:nvCxnSpPr>
        <p:spPr>
          <a:xfrm>
            <a:off x="7092280" y="6021288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Conector recto"/>
          <p:cNvCxnSpPr/>
          <p:nvPr/>
        </p:nvCxnSpPr>
        <p:spPr>
          <a:xfrm>
            <a:off x="7092280" y="5949280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25 CuadroTexto"/>
          <p:cNvSpPr txBox="1"/>
          <p:nvPr/>
        </p:nvSpPr>
        <p:spPr>
          <a:xfrm>
            <a:off x="2483768" y="4509120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>
                <a:latin typeface="Times New Roman"/>
                <a:cs typeface="Times New Roman"/>
              </a:rPr>
              <a:t>]-∞; 1]</a:t>
            </a:r>
            <a:endParaRPr lang="es-CR" sz="4400" dirty="0"/>
          </a:p>
        </p:txBody>
      </p:sp>
      <p:sp>
        <p:nvSpPr>
          <p:cNvPr id="127" name="126 CuadroTexto"/>
          <p:cNvSpPr txBox="1"/>
          <p:nvPr/>
        </p:nvSpPr>
        <p:spPr>
          <a:xfrm>
            <a:off x="7415808" y="4581128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>
                <a:latin typeface="Times New Roman"/>
                <a:cs typeface="Times New Roman"/>
              </a:rPr>
              <a:t>[1;∞ [</a:t>
            </a:r>
            <a:endParaRPr lang="es-CR" sz="4400" dirty="0"/>
          </a:p>
        </p:txBody>
      </p:sp>
      <p:sp>
        <p:nvSpPr>
          <p:cNvPr id="128" name="127 CuadroTexto"/>
          <p:cNvSpPr txBox="1"/>
          <p:nvPr/>
        </p:nvSpPr>
        <p:spPr>
          <a:xfrm>
            <a:off x="6948264" y="648866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</a:t>
            </a:r>
          </a:p>
        </p:txBody>
      </p:sp>
    </p:spTree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908720"/>
            <a:ext cx="8136904" cy="762000"/>
          </a:xfrm>
        </p:spPr>
        <p:txBody>
          <a:bodyPr/>
          <a:lstStyle/>
          <a:p>
            <a:r>
              <a:rPr lang="es-CR" dirty="0"/>
              <a:t>Probabilidad entre dos  valores  (dos boca a la izquierda).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95536" y="1844824"/>
            <a:ext cx="7776864" cy="4680520"/>
          </a:xfrm>
        </p:spPr>
        <p:txBody>
          <a:bodyPr/>
          <a:lstStyle/>
          <a:p>
            <a:r>
              <a:rPr lang="es-CR" dirty="0"/>
              <a:t>Cuando se solicita por ejemplo la siguiente probabilidad: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pPr algn="ctr" eaLnBrk="1" hangingPunct="1"/>
            <a:r>
              <a:rPr lang="es-ES_tradnl" dirty="0"/>
              <a:t>Probabilidades en distribución N (0,1)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95736" y="2348880"/>
            <a:ext cx="4032448" cy="812994"/>
          </a:xfrm>
          <a:prstGeom prst="rect">
            <a:avLst/>
          </a:prstGeom>
          <a:noFill/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996952"/>
            <a:ext cx="7848872" cy="34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 flipH="1" flipV="1">
            <a:off x="2699792" y="5805264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rot="5400000" flipH="1" flipV="1">
            <a:off x="4896036" y="5769260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3059832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5292080" y="644404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1</a:t>
            </a:r>
          </a:p>
        </p:txBody>
      </p:sp>
      <p:cxnSp>
        <p:nvCxnSpPr>
          <p:cNvPr id="18" name="17 Conector recto"/>
          <p:cNvCxnSpPr/>
          <p:nvPr/>
        </p:nvCxnSpPr>
        <p:spPr>
          <a:xfrm>
            <a:off x="4067944" y="3573016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067944" y="3645024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3995936" y="371703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923928" y="378904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923928" y="38610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851920" y="39330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779912" y="400506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779912" y="4077072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779912" y="4149080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707904" y="4221088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707904" y="4293096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3635896" y="4365104"/>
            <a:ext cx="136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3635896" y="4437112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3563888" y="4509120"/>
            <a:ext cx="15121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3563888" y="4581128"/>
            <a:ext cx="1584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>
            <a:off x="3491880" y="4653136"/>
            <a:ext cx="17281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3419872" y="4725144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3419872" y="4797152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3419872" y="486916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3419872" y="4941168"/>
            <a:ext cx="1872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347864" y="5013176"/>
            <a:ext cx="1944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3347864" y="5085184"/>
            <a:ext cx="2016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3275856" y="515719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>
            <a:off x="3275856" y="522920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3275856" y="530120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3275856" y="537321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3275856" y="544522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>
            <a:off x="3275856" y="551723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3275856" y="566124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3275856" y="558924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>
            <a:off x="3275856" y="573325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3275856" y="580526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>
            <a:off x="3275856" y="587727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>
            <a:off x="3275856" y="594928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>
            <a:off x="3275856" y="602128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3275856" y="609329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>
            <a:off x="3275856" y="616530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3275856" y="623731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3275856" y="630932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572560" cy="4572000"/>
          </a:xfrm>
        </p:spPr>
        <p:txBody>
          <a:bodyPr/>
          <a:lstStyle/>
          <a:p>
            <a:r>
              <a:rPr lang="es-CR" dirty="0"/>
              <a:t>El hecho de que la tabla dé solamente áreas acumuladas desde </a:t>
            </a:r>
            <a:r>
              <a:rPr lang="es-CR" i="1" dirty="0"/>
              <a:t>-∞ </a:t>
            </a:r>
            <a:r>
              <a:rPr lang="es-CR" dirty="0"/>
              <a:t>hasta valores positivos de z no constituye ningún problema, dado que la curva es simétrica. Las probabilidades  de </a:t>
            </a:r>
            <a:r>
              <a:rPr lang="es-ES_tradnl" sz="2400" dirty="0"/>
              <a:t>P(z ≤ 1.5) y P(z≥1,5) son exactamente iguales.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285750" y="0"/>
            <a:ext cx="8643938" cy="1000108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2962285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000372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2720961" y="549435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16200000" flipH="1">
            <a:off x="6007108" y="5494354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flipV="1">
            <a:off x="1071538" y="4429132"/>
            <a:ext cx="1500198" cy="1285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flipV="1">
            <a:off x="1428728" y="4643446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flipV="1">
            <a:off x="1643042" y="428625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 flipV="1">
            <a:off x="1643042" y="485776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flipV="1">
            <a:off x="2000232" y="507207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 flipV="1">
            <a:off x="2357422" y="528638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flipV="1">
            <a:off x="1643042" y="414338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flipV="1">
            <a:off x="1795442" y="400050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 flipV="1">
            <a:off x="1866880" y="385762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flipV="1">
            <a:off x="1938318" y="371475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flipV="1">
            <a:off x="1928794" y="364331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 flipV="1">
            <a:off x="2000232" y="357187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 flipV="1">
            <a:off x="2000232" y="342900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 flipV="1">
            <a:off x="1285852" y="4572008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"/>
          <p:cNvCxnSpPr/>
          <p:nvPr/>
        </p:nvCxnSpPr>
        <p:spPr>
          <a:xfrm flipV="1">
            <a:off x="6215074" y="4429132"/>
            <a:ext cx="1143008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flipV="1">
            <a:off x="6215074" y="4643446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 flipV="1">
            <a:off x="6429388" y="428625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 flipV="1">
            <a:off x="6429388" y="485776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"/>
          <p:cNvCxnSpPr/>
          <p:nvPr/>
        </p:nvCxnSpPr>
        <p:spPr>
          <a:xfrm flipV="1">
            <a:off x="6786578" y="507207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 flipV="1">
            <a:off x="7143768" y="528638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79 Conector recto"/>
          <p:cNvCxnSpPr/>
          <p:nvPr/>
        </p:nvCxnSpPr>
        <p:spPr>
          <a:xfrm flipV="1">
            <a:off x="6429388" y="414338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 flipV="1">
            <a:off x="6581788" y="400050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81 Conector recto"/>
          <p:cNvCxnSpPr/>
          <p:nvPr/>
        </p:nvCxnSpPr>
        <p:spPr>
          <a:xfrm flipV="1">
            <a:off x="6653226" y="385762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flipV="1">
            <a:off x="6724664" y="371475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 flipV="1">
            <a:off x="6715140" y="364331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flipV="1">
            <a:off x="6786578" y="357187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flipV="1">
            <a:off x="6786578" y="342900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flipV="1">
            <a:off x="6215074" y="4572008"/>
            <a:ext cx="1214446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 rot="5400000" flipH="1" flipV="1">
            <a:off x="7500958" y="5357826"/>
            <a:ext cx="28575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flipV="1">
            <a:off x="7653358" y="5500702"/>
            <a:ext cx="2762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93 CuadroTexto"/>
          <p:cNvSpPr txBox="1"/>
          <p:nvPr/>
        </p:nvSpPr>
        <p:spPr>
          <a:xfrm>
            <a:off x="2714612" y="585789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sp>
        <p:nvSpPr>
          <p:cNvPr id="95" name="94 CuadroTexto"/>
          <p:cNvSpPr txBox="1"/>
          <p:nvPr/>
        </p:nvSpPr>
        <p:spPr>
          <a:xfrm>
            <a:off x="5929322" y="5857893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  <p:sp>
        <p:nvSpPr>
          <p:cNvPr id="96" name="95 CuadroTexto"/>
          <p:cNvSpPr txBox="1"/>
          <p:nvPr/>
        </p:nvSpPr>
        <p:spPr>
          <a:xfrm>
            <a:off x="4214810" y="3929066"/>
            <a:ext cx="857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3600" dirty="0"/>
              <a:t>=</a:t>
            </a:r>
          </a:p>
        </p:txBody>
      </p:sp>
      <p:sp>
        <p:nvSpPr>
          <p:cNvPr id="97" name="96 CuadroTexto"/>
          <p:cNvSpPr txBox="1"/>
          <p:nvPr/>
        </p:nvSpPr>
        <p:spPr>
          <a:xfrm>
            <a:off x="1142976" y="6143644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P(z ≤ 1.5) = 0.9332</a:t>
            </a:r>
            <a:endParaRPr lang="es-CR" dirty="0"/>
          </a:p>
        </p:txBody>
      </p:sp>
      <p:sp>
        <p:nvSpPr>
          <p:cNvPr id="99" name="98 CuadroTexto"/>
          <p:cNvSpPr txBox="1"/>
          <p:nvPr/>
        </p:nvSpPr>
        <p:spPr>
          <a:xfrm>
            <a:off x="6643702" y="614364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P(z≥1,5) = </a:t>
            </a:r>
            <a:endParaRPr lang="es-C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9" name="8 Elipse"/>
          <p:cNvSpPr/>
          <p:nvPr/>
        </p:nvSpPr>
        <p:spPr>
          <a:xfrm>
            <a:off x="4572000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6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estándar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Cálculo de probabilidades en la normal estándar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6372200" y="5229200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Ejemplos de cálculos de probabilidad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1/9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29058" y="1571612"/>
            <a:ext cx="5057788" cy="4572000"/>
          </a:xfrm>
        </p:spPr>
        <p:txBody>
          <a:bodyPr/>
          <a:lstStyle/>
          <a:p>
            <a:r>
              <a:rPr lang="es-CR" dirty="0"/>
              <a:t>1. La probabilidad </a:t>
            </a:r>
            <a:r>
              <a:rPr lang="es-ES_tradnl" dirty="0"/>
              <a:t>P(z ≤ 1.5) = ?</a:t>
            </a:r>
          </a:p>
          <a:p>
            <a:endParaRPr lang="es-ES_tradnl" dirty="0"/>
          </a:p>
          <a:p>
            <a:endParaRPr lang="es-ES_tradnl" dirty="0"/>
          </a:p>
          <a:p>
            <a:pPr>
              <a:buNone/>
            </a:pPr>
            <a:r>
              <a:rPr lang="es-ES_tradnl" dirty="0"/>
              <a:t>         P(z ≤ 1.5) = 0.9332</a:t>
            </a:r>
            <a:endParaRPr lang="es-CR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4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"/>
          <p:cNvCxnSpPr/>
          <p:nvPr/>
        </p:nvCxnSpPr>
        <p:spPr>
          <a:xfrm flipV="1">
            <a:off x="1142976" y="4143380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 flipV="1">
            <a:off x="1214414" y="4000504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428728" y="392906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428728" y="450057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785918" y="471488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428728" y="378619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1581128" y="364331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652566" y="350043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24004" y="335756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14480" y="328612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85918" y="321468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07181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071538" y="3929066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071546"/>
          </a:xfrm>
        </p:spPr>
        <p:txBody>
          <a:bodyPr/>
          <a:lstStyle/>
          <a:p>
            <a:pPr algn="ctr"/>
            <a:r>
              <a:rPr lang="es-CR" dirty="0"/>
              <a:t>Ejemplos 2/9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3929058" y="1643050"/>
            <a:ext cx="5057788" cy="4572000"/>
          </a:xfrm>
        </p:spPr>
        <p:txBody>
          <a:bodyPr/>
          <a:lstStyle/>
          <a:p>
            <a:r>
              <a:rPr lang="es-CR" dirty="0"/>
              <a:t>1. La probabilidad </a:t>
            </a:r>
            <a:r>
              <a:rPr lang="es-ES_tradnl" dirty="0"/>
              <a:t>P(z ≥- 1.5) = ?</a:t>
            </a:r>
          </a:p>
          <a:p>
            <a:endParaRPr lang="es-ES_tradnl" dirty="0"/>
          </a:p>
          <a:p>
            <a:endParaRPr lang="es-ES_tradnl" dirty="0"/>
          </a:p>
          <a:p>
            <a:pPr>
              <a:buNone/>
            </a:pPr>
            <a:r>
              <a:rPr lang="es-ES_tradnl" dirty="0"/>
              <a:t>         P(z ≥- 1.5) = 0.9332</a:t>
            </a:r>
            <a:endParaRPr lang="es-CR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352531" y="4286256"/>
            <a:ext cx="1143008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352531" y="4500570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566845" y="4143380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566845" y="4714884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924035" y="4929198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2281225" y="5143512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66845" y="4000504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19245" y="3857628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90683" y="3714752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862121" y="3571876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852597" y="3500438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924035" y="3429000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1924035" y="3286124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flipV="1">
            <a:off x="1352531" y="4429132"/>
            <a:ext cx="1214446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rot="5400000" flipH="1" flipV="1">
            <a:off x="2638415" y="5214950"/>
            <a:ext cx="28575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 flipV="1">
            <a:off x="2790815" y="5357826"/>
            <a:ext cx="2762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3/9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3857620" y="1428736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P(0 </a:t>
            </a:r>
            <a:r>
              <a:rPr lang="es-ES_tradnl" sz="2800" dirty="0"/>
              <a:t>≤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 </a:t>
            </a:r>
            <a:r>
              <a:rPr lang="es-ES_tradnl" sz="2800" dirty="0"/>
              <a:t>≤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P(0 </a:t>
            </a:r>
            <a:r>
              <a:rPr lang="es-ES_tradnl" sz="2400" dirty="0"/>
              <a:t>≤ </a:t>
            </a:r>
            <a:r>
              <a:rPr lang="es-ES_tradnl" sz="2000" dirty="0"/>
              <a:t>z </a:t>
            </a:r>
            <a:r>
              <a:rPr lang="es-ES_tradnl" sz="2400" dirty="0"/>
              <a:t>≤</a:t>
            </a:r>
            <a:r>
              <a:rPr lang="es-ES_tradnl" sz="2000" dirty="0"/>
              <a:t> 1.5)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lang="es-ES_tradnl" sz="3600" dirty="0"/>
              <a:t> </a:t>
            </a:r>
            <a:r>
              <a:rPr lang="es-ES_tradnl" sz="2000" dirty="0"/>
              <a:t>P(z ≤ 1.5) - P(z ≤ 0)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/>
              <a:t>                         </a:t>
            </a:r>
            <a:r>
              <a:rPr lang="es-ES_tradnl" sz="2400" dirty="0"/>
              <a:t>= 0.93332 – 0.5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/>
              <a:t>                    = 0.4332</a:t>
            </a:r>
            <a:r>
              <a:rPr lang="es-ES_tradnl" sz="2000" dirty="0"/>
              <a:t> </a:t>
            </a:r>
            <a:endParaRPr kumimoji="0" lang="es-C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22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5400000" flipH="1" flipV="1">
            <a:off x="1964513" y="4179099"/>
            <a:ext cx="571504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 flipV="1">
            <a:off x="2000232" y="4000504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flipV="1">
            <a:off x="2000232" y="3929066"/>
            <a:ext cx="357190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flipV="1">
            <a:off x="2000232" y="4500570"/>
            <a:ext cx="500066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flipV="1">
            <a:off x="2071670" y="4714884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2000232" y="3786190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 flipV="1">
            <a:off x="2000232" y="3643314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 flipV="1">
            <a:off x="2000232" y="3500438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 rot="5400000" flipH="1" flipV="1">
            <a:off x="2000232" y="3357562"/>
            <a:ext cx="214314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 rot="5400000" flipH="1" flipV="1">
            <a:off x="2000232" y="3286124"/>
            <a:ext cx="142876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2000232" y="3214686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 rot="5400000" flipH="1" flipV="1">
            <a:off x="2000232" y="3071810"/>
            <a:ext cx="7143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 rot="5400000" flipH="1" flipV="1">
            <a:off x="2000232" y="3929066"/>
            <a:ext cx="42862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sp>
        <p:nvSpPr>
          <p:cNvPr id="52" name="51 CuadroTexto"/>
          <p:cNvSpPr txBox="1"/>
          <p:nvPr/>
        </p:nvSpPr>
        <p:spPr>
          <a:xfrm>
            <a:off x="1857356" y="550070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</p:spTree>
  </p:cSld>
  <p:clrMapOvr>
    <a:masterClrMapping/>
  </p:clrMapOvr>
  <p:transition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4/9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4086212" y="1428736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P(-1.5</a:t>
            </a:r>
            <a:r>
              <a:rPr lang="es-ES_tradnl" sz="2400" dirty="0"/>
              <a:t> ≤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 </a:t>
            </a:r>
            <a:r>
              <a:rPr lang="es-ES_tradnl" sz="2800" dirty="0"/>
              <a:t>≤ </a:t>
            </a:r>
            <a:r>
              <a:rPr lang="es-ES_tradnl" sz="2600" dirty="0">
                <a:latin typeface="+mn-lt"/>
              </a:rPr>
              <a:t>0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600" dirty="0"/>
              <a:t>P(-1.5</a:t>
            </a:r>
            <a:r>
              <a:rPr lang="es-ES_tradnl" sz="2400" dirty="0"/>
              <a:t> ≤ </a:t>
            </a:r>
            <a:r>
              <a:rPr lang="es-ES_tradnl" sz="2600" dirty="0"/>
              <a:t>z </a:t>
            </a:r>
            <a:r>
              <a:rPr lang="es-ES_tradnl" sz="2800" dirty="0"/>
              <a:t>≤ </a:t>
            </a:r>
            <a:r>
              <a:rPr lang="es-ES_tradnl" sz="2600" dirty="0"/>
              <a:t>0)</a:t>
            </a:r>
            <a:r>
              <a:rPr lang="es-ES_tradnl" sz="2000" dirty="0"/>
              <a:t>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lang="es-ES_tradnl" sz="3600" dirty="0"/>
              <a:t> </a:t>
            </a:r>
            <a:r>
              <a:rPr lang="es-ES_tradnl" sz="2000" dirty="0"/>
              <a:t>P(z ≤ 0) - P(z ≤ -1.5) 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/>
              <a:t>                         </a:t>
            </a:r>
            <a:r>
              <a:rPr lang="es-ES_tradnl" sz="2400" dirty="0"/>
              <a:t>= 0.5 – 0.06681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/>
              <a:t>                    = 0.43319</a:t>
            </a:r>
            <a:r>
              <a:rPr lang="es-ES_tradnl" sz="2000" dirty="0"/>
              <a:t> </a:t>
            </a:r>
            <a:endParaRPr kumimoji="0" lang="es-C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352531" y="4714884"/>
            <a:ext cx="790577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352531" y="5000636"/>
            <a:ext cx="719139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357290" y="4500570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566845" y="5143512"/>
            <a:ext cx="504825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924035" y="5357826"/>
            <a:ext cx="219073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66845" y="4429132"/>
            <a:ext cx="576263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19245" y="4286256"/>
            <a:ext cx="423863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643042" y="4071942"/>
            <a:ext cx="500066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14480" y="392906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78619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785918" y="3643314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rot="5400000" flipH="1" flipV="1">
            <a:off x="1821637" y="3393281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flipV="1">
            <a:off x="1352531" y="4857760"/>
            <a:ext cx="790577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  <p:sp>
        <p:nvSpPr>
          <p:cNvPr id="38" name="37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5/9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3929058" y="1643050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P(z ≥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>
                <a:latin typeface="Arial" pitchFamily="34" charset="0"/>
                <a:cs typeface="Arial" pitchFamily="34" charset="0"/>
              </a:rPr>
              <a:t>P(z ≥ 1.5) = 1 - P(z ≤ 1.5)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>
                <a:latin typeface="Arial" pitchFamily="34" charset="0"/>
                <a:cs typeface="Arial" pitchFamily="34" charset="0"/>
              </a:rPr>
              <a:t>                  =  1- 0.9332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>
                <a:latin typeface="Arial" pitchFamily="34" charset="0"/>
                <a:cs typeface="Arial" pitchFamily="34" charset="0"/>
              </a:rPr>
              <a:t>                  = 0.0668</a:t>
            </a:r>
            <a:endParaRPr lang="es-CR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4" name="23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sp>
        <p:nvSpPr>
          <p:cNvPr id="40" name="39 CuadroTexto"/>
          <p:cNvSpPr txBox="1"/>
          <p:nvPr/>
        </p:nvSpPr>
        <p:spPr>
          <a:xfrm>
            <a:off x="1857356" y="550070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  <p:cxnSp>
        <p:nvCxnSpPr>
          <p:cNvPr id="42" name="41 Conector recto"/>
          <p:cNvCxnSpPr/>
          <p:nvPr/>
        </p:nvCxnSpPr>
        <p:spPr>
          <a:xfrm>
            <a:off x="2714612" y="5072074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2714612" y="514351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2714612" y="5214950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2714612" y="5286388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6/9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  <p:sp>
        <p:nvSpPr>
          <p:cNvPr id="22" name="2 Marcador de contenido"/>
          <p:cNvSpPr txBox="1">
            <a:spLocks/>
          </p:cNvSpPr>
          <p:nvPr/>
        </p:nvSpPr>
        <p:spPr bwMode="auto">
          <a:xfrm>
            <a:off x="4289668" y="1643050"/>
            <a:ext cx="460281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P(z ≥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P(z 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≤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-1.5) 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= 0.06681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>
                <a:latin typeface="Arial" pitchFamily="34" charset="0"/>
                <a:cs typeface="Arial" pitchFamily="34" charset="0"/>
              </a:rPr>
              <a:t>                   </a:t>
            </a:r>
            <a:endParaRPr kumimoji="0" lang="es-C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23 Conector recto"/>
          <p:cNvCxnSpPr/>
          <p:nvPr/>
        </p:nvCxnSpPr>
        <p:spPr>
          <a:xfrm>
            <a:off x="1285852" y="5286388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1142976" y="5357826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rot="10800000">
            <a:off x="857224" y="5429264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rot="10800000">
            <a:off x="500034" y="5500702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7/9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950142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2720961" y="5482209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/>
        </p:nvSpPr>
        <p:spPr>
          <a:xfrm>
            <a:off x="2643174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071670" y="5845749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2928926" y="5417121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2928926" y="5488559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2928926" y="5559997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2928926" y="5631435"/>
            <a:ext cx="500066" cy="12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2 Marcador de contenido"/>
          <p:cNvSpPr txBox="1">
            <a:spLocks/>
          </p:cNvSpPr>
          <p:nvPr/>
        </p:nvSpPr>
        <p:spPr bwMode="auto">
          <a:xfrm>
            <a:off x="4178712" y="1643050"/>
            <a:ext cx="485778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P(1.5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>
                <a:latin typeface="+mn-lt"/>
              </a:rPr>
              <a:t>2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P(1.5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2.5)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= </a:t>
            </a:r>
            <a:r>
              <a:rPr lang="es-ES_tradnl" sz="2000" dirty="0"/>
              <a:t>P(z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 </a:t>
            </a:r>
            <a:r>
              <a:rPr lang="es-ES_tradnl" sz="2000" dirty="0"/>
              <a:t>2.5) - P(z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 </a:t>
            </a:r>
            <a:r>
              <a:rPr lang="es-ES_tradnl" sz="2000" dirty="0"/>
              <a:t>1.5)</a:t>
            </a: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           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0.9938</a:t>
            </a:r>
            <a:r>
              <a:rPr kumimoji="0" lang="es-ES_tradnl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– 0.9332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baseline="0" dirty="0">
                <a:latin typeface="Arial" pitchFamily="34" charset="0"/>
                <a:cs typeface="Arial" pitchFamily="34" charset="0"/>
              </a:rPr>
              <a:t>                   =0.0606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16 Conector recto"/>
          <p:cNvCxnSpPr/>
          <p:nvPr/>
        </p:nvCxnSpPr>
        <p:spPr>
          <a:xfrm rot="5400000" flipH="1" flipV="1">
            <a:off x="3357554" y="5643578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3214678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2.5</a:t>
            </a: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63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8/9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4036406" y="1643050"/>
            <a:ext cx="507209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P(-2.5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>
                <a:latin typeface="+mn-lt"/>
              </a:rPr>
              <a:t>-1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P(-2.5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-1.5)</a:t>
            </a:r>
            <a:r>
              <a:rPr lang="es-ES_tradnl" sz="2400" dirty="0"/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</a:t>
            </a:r>
            <a:r>
              <a:rPr lang="es-ES_tradnl" sz="2600" dirty="0"/>
              <a:t> </a:t>
            </a:r>
            <a:r>
              <a:rPr lang="es-ES_tradnl" sz="2000" dirty="0"/>
              <a:t>P(z 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-1.5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/>
              <a:t>) - P(z 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-2.5) </a:t>
            </a: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           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0.06681</a:t>
            </a:r>
            <a:r>
              <a:rPr kumimoji="0" lang="es-ES_tradnl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– 0.00621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baseline="0" dirty="0">
                <a:latin typeface="Arial" pitchFamily="34" charset="0"/>
                <a:cs typeface="Arial" pitchFamily="34" charset="0"/>
              </a:rPr>
              <a:t>                   =0.0606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  <p:cxnSp>
        <p:nvCxnSpPr>
          <p:cNvPr id="10" name="9 Conector recto"/>
          <p:cNvCxnSpPr/>
          <p:nvPr/>
        </p:nvCxnSpPr>
        <p:spPr>
          <a:xfrm>
            <a:off x="1285852" y="5286388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1142976" y="5357826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rot="10800000">
            <a:off x="857224" y="5429264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rot="10800000">
            <a:off x="857224" y="5500702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rot="5400000" flipH="1" flipV="1">
            <a:off x="785786" y="5500702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428596" y="5702874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-2.5</a:t>
            </a: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63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8/9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 flipV="1">
            <a:off x="1142976" y="4143380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214414" y="4000504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428728" y="392906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428728" y="450057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785918" y="471488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1428728" y="378619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81128" y="364331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652566" y="350043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24004" y="335756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14480" y="328612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21468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785918" y="307181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1071538" y="3929066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cxnSp>
        <p:nvCxnSpPr>
          <p:cNvPr id="23" name="22 Conector recto"/>
          <p:cNvCxnSpPr/>
          <p:nvPr/>
        </p:nvCxnSpPr>
        <p:spPr>
          <a:xfrm rot="5400000" flipH="1" flipV="1">
            <a:off x="750067" y="5250669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857224" y="5214950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28596" y="5572140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-2.5</a:t>
            </a:r>
          </a:p>
        </p:txBody>
      </p:sp>
      <p:sp>
        <p:nvSpPr>
          <p:cNvPr id="27" name="2 Marcador de contenido"/>
          <p:cNvSpPr txBox="1">
            <a:spLocks/>
          </p:cNvSpPr>
          <p:nvPr/>
        </p:nvSpPr>
        <p:spPr bwMode="auto">
          <a:xfrm>
            <a:off x="3857620" y="1643050"/>
            <a:ext cx="507209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P(-2.5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>
                <a:latin typeface="+mn-lt"/>
              </a:rPr>
              <a:t>1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P(-2.5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1.5)</a:t>
            </a:r>
            <a:r>
              <a:rPr lang="es-ES_tradnl" sz="2400" dirty="0"/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</a:t>
            </a:r>
            <a:r>
              <a:rPr lang="es-ES_tradnl" sz="2000" dirty="0"/>
              <a:t>P (z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1.5) – P (z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 -</a:t>
            </a:r>
            <a:r>
              <a:rPr lang="es-ES_tradnl" sz="2000" dirty="0"/>
              <a:t>2.5) 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			= 0.93319 – 0.00621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noProof="0" dirty="0">
                <a:latin typeface="Arial" pitchFamily="34" charset="0"/>
                <a:cs typeface="Arial" pitchFamily="34" charset="0"/>
              </a:rPr>
              <a:t>			= 0.92698</a:t>
            </a:r>
            <a:endParaRPr kumimoji="0" lang="es-ES_tradnl" sz="20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6A7D5C63-F340-4813-B615-17C05401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5" name="3 Elipse">
            <a:extLst>
              <a:ext uri="{FF2B5EF4-FFF2-40B4-BE49-F238E27FC236}">
                <a16:creationId xmlns:a16="http://schemas.microsoft.com/office/drawing/2014/main" id="{D8008175-AE51-43F4-9F77-24D726253065}"/>
              </a:ext>
            </a:extLst>
          </p:cNvPr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7</a:t>
            </a:r>
          </a:p>
        </p:txBody>
      </p:sp>
      <p:sp>
        <p:nvSpPr>
          <p:cNvPr id="6" name="14 Rectángulo redondeado">
            <a:extLst>
              <a:ext uri="{FF2B5EF4-FFF2-40B4-BE49-F238E27FC236}">
                <a16:creationId xmlns:a16="http://schemas.microsoft.com/office/drawing/2014/main" id="{6998E710-245D-453A-A0D9-A50154FAF5C7}"/>
              </a:ext>
            </a:extLst>
          </p:cNvPr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estandarización</a:t>
            </a:r>
          </a:p>
        </p:txBody>
      </p:sp>
    </p:spTree>
    <p:extLst>
      <p:ext uri="{BB962C8B-B14F-4D97-AF65-F5344CB8AC3E}">
        <p14:creationId xmlns:p14="http://schemas.microsoft.com/office/powerpoint/2010/main" val="3964297080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58246" cy="838446"/>
          </a:xfrm>
        </p:spPr>
        <p:txBody>
          <a:bodyPr>
            <a:normAutofit/>
          </a:bodyPr>
          <a:lstStyle/>
          <a:p>
            <a:pPr algn="ctr"/>
            <a:r>
              <a:rPr lang="es-CR" sz="4400"/>
              <a:t>La estandarización</a:t>
            </a:r>
            <a:endParaRPr lang="es-C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500174"/>
            <a:ext cx="8286808" cy="5072098"/>
          </a:xfrm>
        </p:spPr>
        <p:txBody>
          <a:bodyPr>
            <a:normAutofit fontScale="92500"/>
          </a:bodyPr>
          <a:lstStyle/>
          <a:p>
            <a:r>
              <a:rPr lang="es-CR" dirty="0"/>
              <a:t>Finalmente, el capítulo de “Probabilidades”, “Medidas de Tendencia”, “Variabilidad” y “La curva normal y normal estándar” se unen para llevar a cabo la estandarización.</a:t>
            </a:r>
          </a:p>
          <a:p>
            <a:endParaRPr lang="es-CR" dirty="0"/>
          </a:p>
          <a:p>
            <a:r>
              <a:rPr lang="es-CR" dirty="0"/>
              <a:t>Supongamos el siguiente caso: queremos averiguar, para una población determinada que labora para una firma financiera, cuál sería la probabilidad de encontrar a una persona con un salario superior a los $ 120 por día, sabiendo de ante mano  que, los datos se distribuyen normalmente, y que además los datos arrojaron el siguiente resultado: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r>
              <a:rPr lang="es-CR" dirty="0"/>
              <a:t>µ = 105         </a:t>
            </a:r>
          </a:p>
          <a:p>
            <a:pPr>
              <a:buNone/>
            </a:pPr>
            <a:r>
              <a:rPr lang="es-CR" dirty="0"/>
              <a:t>σ = 10                                 ¿Cómo averiguamos este hecho?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endParaRPr lang="es-CR" dirty="0"/>
          </a:p>
        </p:txBody>
      </p:sp>
    </p:spTree>
  </p:cSld>
  <p:clrMapOvr>
    <a:masterClrMapping/>
  </p:clrMapOvr>
  <p:transition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1428736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es-CR" dirty="0"/>
              <a:t>Curva normal, definida por:</a:t>
            </a:r>
          </a:p>
          <a:p>
            <a:pPr>
              <a:buNone/>
            </a:pPr>
            <a:r>
              <a:rPr lang="es-CR" dirty="0"/>
              <a:t>-µ</a:t>
            </a:r>
          </a:p>
          <a:p>
            <a:pPr>
              <a:buNone/>
            </a:pPr>
            <a:r>
              <a:rPr lang="es-CR" dirty="0">
                <a:latin typeface="Calibri"/>
                <a:cs typeface="Calibri"/>
              </a:rPr>
              <a:t>-</a:t>
            </a:r>
            <a:r>
              <a:rPr lang="el-GR" dirty="0">
                <a:latin typeface="Calibri"/>
                <a:cs typeface="Calibri"/>
              </a:rPr>
              <a:t>σ</a:t>
            </a:r>
            <a:endParaRPr lang="es-CR" dirty="0"/>
          </a:p>
          <a:p>
            <a:pPr>
              <a:buNone/>
            </a:pPr>
            <a:endParaRPr lang="es-CR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000240"/>
            <a:ext cx="7429552" cy="4731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/>
              <a:t>Introducción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43504" y="5922836"/>
            <a:ext cx="285752" cy="649436"/>
          </a:xfrm>
          <a:prstGeom prst="rect">
            <a:avLst/>
          </a:prstGeom>
          <a:noFill/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5008" y="6072206"/>
            <a:ext cx="1005847" cy="571504"/>
          </a:xfrm>
          <a:prstGeom prst="rect">
            <a:avLst/>
          </a:prstGeom>
          <a:noFill/>
        </p:spPr>
      </p:pic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80467" y="6072206"/>
            <a:ext cx="1005847" cy="571504"/>
          </a:xfrm>
          <a:prstGeom prst="rect">
            <a:avLst/>
          </a:prstGeom>
          <a:noFill/>
        </p:spPr>
      </p:pic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43755" y="6000768"/>
            <a:ext cx="1100145" cy="500066"/>
          </a:xfrm>
          <a:prstGeom prst="rect">
            <a:avLst/>
          </a:prstGeom>
          <a:noFill/>
        </p:spPr>
      </p:pic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00298" y="6072206"/>
            <a:ext cx="1100145" cy="500066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571612"/>
            <a:ext cx="7772400" cy="4572000"/>
          </a:xfrm>
        </p:spPr>
        <p:txBody>
          <a:bodyPr/>
          <a:lstStyle/>
          <a:p>
            <a:r>
              <a:rPr lang="es-CR" dirty="0"/>
              <a:t>En nuestro caso:</a:t>
            </a:r>
          </a:p>
          <a:p>
            <a:pPr>
              <a:buNone/>
            </a:pPr>
            <a:r>
              <a:rPr lang="es-CR" dirty="0"/>
              <a:t>µ = 105    ($)     </a:t>
            </a:r>
          </a:p>
          <a:p>
            <a:pPr>
              <a:buNone/>
            </a:pPr>
            <a:r>
              <a:rPr lang="es-CR" dirty="0"/>
              <a:t>σ = 10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800" dirty="0"/>
              <a:t>Introducción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928934"/>
            <a:ext cx="6728643" cy="358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00826" y="1000108"/>
            <a:ext cx="2351056" cy="1071570"/>
          </a:xfrm>
          <a:prstGeom prst="rect">
            <a:avLst/>
          </a:prstGeom>
          <a:noFill/>
        </p:spPr>
      </p:pic>
      <p:cxnSp>
        <p:nvCxnSpPr>
          <p:cNvPr id="15" name="14 Conector recto de flecha"/>
          <p:cNvCxnSpPr/>
          <p:nvPr/>
        </p:nvCxnSpPr>
        <p:spPr>
          <a:xfrm rot="10800000" flipV="1">
            <a:off x="4143372" y="2000240"/>
            <a:ext cx="2143140" cy="18573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66130" y="6357958"/>
            <a:ext cx="620052" cy="500042"/>
          </a:xfrm>
          <a:prstGeom prst="rect">
            <a:avLst/>
          </a:prstGeom>
          <a:noFill/>
        </p:spPr>
      </p:pic>
      <p:sp>
        <p:nvSpPr>
          <p:cNvPr id="19" name="18 Cerrar llave"/>
          <p:cNvSpPr/>
          <p:nvPr/>
        </p:nvSpPr>
        <p:spPr>
          <a:xfrm rot="16200000">
            <a:off x="2786049" y="5500703"/>
            <a:ext cx="500066" cy="9286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5214950"/>
            <a:ext cx="357190" cy="425226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00034" y="1357298"/>
            <a:ext cx="7772400" cy="5286412"/>
          </a:xfrm>
        </p:spPr>
        <p:txBody>
          <a:bodyPr/>
          <a:lstStyle/>
          <a:p>
            <a:pPr>
              <a:buNone/>
            </a:pPr>
            <a:r>
              <a:rPr lang="es-CR" dirty="0"/>
              <a:t>De acuerdo al enunciado: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r>
              <a:rPr lang="es-CR" dirty="0"/>
              <a:t>“… , cuál sería la probabilidad de encontrar a una persona con un salario superior a los $ 120 por día …”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r>
              <a:rPr lang="es-CR" dirty="0"/>
              <a:t>-Además, recolectados todos los datos sabemos que: </a:t>
            </a:r>
          </a:p>
          <a:p>
            <a:pPr>
              <a:buNone/>
            </a:pPr>
            <a:r>
              <a:rPr lang="es-CR" dirty="0"/>
              <a:t>µ = 105    ($)     </a:t>
            </a:r>
          </a:p>
          <a:p>
            <a:pPr>
              <a:buNone/>
            </a:pPr>
            <a:r>
              <a:rPr lang="es-CR" dirty="0"/>
              <a:t>σ = 10</a:t>
            </a:r>
          </a:p>
          <a:p>
            <a:pPr algn="ctr">
              <a:buNone/>
            </a:pPr>
            <a:r>
              <a:rPr lang="es-CR" sz="4800" dirty="0"/>
              <a:t>¿Cómo se calcula está probabilidad?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/>
              <a:t>Introducción</a:t>
            </a:r>
          </a:p>
        </p:txBody>
      </p:sp>
    </p:spTree>
  </p:cSld>
  <p:clrMapOvr>
    <a:masterClrMapping/>
  </p:clrMapOvr>
  <p:transition>
    <p:wedg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12290" name="Picture 2" descr="http://www.celulais.com/wp-content/uploads/2009/06/pregunt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2307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86808" cy="1143000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La curva normal estándar </a:t>
            </a:r>
            <a:r>
              <a:rPr lang="es-CR" dirty="0">
                <a:sym typeface="Wingdings" pitchFamily="2" charset="2"/>
              </a:rPr>
              <a:t> N(0,1)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357298"/>
            <a:ext cx="7929618" cy="5143536"/>
          </a:xfrm>
        </p:spPr>
        <p:txBody>
          <a:bodyPr/>
          <a:lstStyle/>
          <a:p>
            <a:r>
              <a:rPr lang="es-CR" dirty="0"/>
              <a:t>Todos los ejercicios de probabilidades que realizamos anteriormente eran relativos a una curva normal con promedio de cero (</a:t>
            </a:r>
            <a:r>
              <a:rPr lang="es-ES" sz="2800" i="1" dirty="0"/>
              <a:t>µ=0) </a:t>
            </a:r>
            <a:r>
              <a:rPr lang="es-CR" sz="2800" dirty="0"/>
              <a:t>y desviación estándar de uno </a:t>
            </a:r>
          </a:p>
          <a:p>
            <a:pPr>
              <a:buNone/>
            </a:pPr>
            <a:r>
              <a:rPr lang="es-CR" sz="2800" dirty="0"/>
              <a:t>    (</a:t>
            </a:r>
            <a:r>
              <a:rPr lang="es-CR" sz="2800" i="1" dirty="0"/>
              <a:t>σ </a:t>
            </a:r>
            <a:r>
              <a:rPr lang="es-CR" sz="2800" dirty="0"/>
              <a:t>=1)</a:t>
            </a:r>
          </a:p>
          <a:p>
            <a:pPr>
              <a:buNone/>
            </a:pPr>
            <a:endParaRPr lang="es-CR" sz="2800" dirty="0"/>
          </a:p>
          <a:p>
            <a:pPr>
              <a:buNone/>
            </a:pPr>
            <a:endParaRPr lang="es-C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3571876"/>
            <a:ext cx="7000924" cy="282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8 CuadroTexto"/>
          <p:cNvSpPr txBox="1">
            <a:spLocks noChangeArrowheads="1"/>
          </p:cNvSpPr>
          <p:nvPr/>
        </p:nvSpPr>
        <p:spPr bwMode="auto">
          <a:xfrm>
            <a:off x="3500430" y="6429396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0</a:t>
            </a:r>
          </a:p>
        </p:txBody>
      </p:sp>
      <p:sp>
        <p:nvSpPr>
          <p:cNvPr id="6" name="19 CuadroTexto"/>
          <p:cNvSpPr txBox="1">
            <a:spLocks noChangeArrowheads="1"/>
          </p:cNvSpPr>
          <p:nvPr/>
        </p:nvSpPr>
        <p:spPr bwMode="auto">
          <a:xfrm>
            <a:off x="4500562" y="6429396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1</a:t>
            </a:r>
          </a:p>
        </p:txBody>
      </p:sp>
      <p:sp>
        <p:nvSpPr>
          <p:cNvPr id="7" name="20 CuadroTexto"/>
          <p:cNvSpPr txBox="1">
            <a:spLocks noChangeArrowheads="1"/>
          </p:cNvSpPr>
          <p:nvPr/>
        </p:nvSpPr>
        <p:spPr bwMode="auto">
          <a:xfrm>
            <a:off x="5429256" y="6429396"/>
            <a:ext cx="3571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ES" i="1" dirty="0"/>
              <a:t>2</a:t>
            </a:r>
          </a:p>
        </p:txBody>
      </p:sp>
      <p:sp>
        <p:nvSpPr>
          <p:cNvPr id="8" name="21 CuadroTexto"/>
          <p:cNvSpPr txBox="1">
            <a:spLocks noChangeArrowheads="1"/>
          </p:cNvSpPr>
          <p:nvPr/>
        </p:nvSpPr>
        <p:spPr bwMode="auto">
          <a:xfrm>
            <a:off x="2428860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-1</a:t>
            </a:r>
          </a:p>
        </p:txBody>
      </p:sp>
      <p:sp>
        <p:nvSpPr>
          <p:cNvPr id="9" name="22 CuadroTexto"/>
          <p:cNvSpPr txBox="1">
            <a:spLocks noChangeArrowheads="1"/>
          </p:cNvSpPr>
          <p:nvPr/>
        </p:nvSpPr>
        <p:spPr bwMode="auto">
          <a:xfrm>
            <a:off x="1500166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-2</a:t>
            </a:r>
          </a:p>
        </p:txBody>
      </p:sp>
      <p:sp>
        <p:nvSpPr>
          <p:cNvPr id="10" name="23 CuadroTexto"/>
          <p:cNvSpPr txBox="1">
            <a:spLocks noChangeArrowheads="1"/>
          </p:cNvSpPr>
          <p:nvPr/>
        </p:nvSpPr>
        <p:spPr bwMode="auto">
          <a:xfrm>
            <a:off x="500034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-3</a:t>
            </a:r>
          </a:p>
        </p:txBody>
      </p:sp>
      <p:sp>
        <p:nvSpPr>
          <p:cNvPr id="11" name="24 CuadroTexto"/>
          <p:cNvSpPr txBox="1">
            <a:spLocks noChangeArrowheads="1"/>
          </p:cNvSpPr>
          <p:nvPr/>
        </p:nvSpPr>
        <p:spPr bwMode="auto">
          <a:xfrm>
            <a:off x="6286512" y="6429396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3</a:t>
            </a:r>
          </a:p>
        </p:txBody>
      </p: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17" name="16 Cerrar llave"/>
          <p:cNvSpPr/>
          <p:nvPr/>
        </p:nvSpPr>
        <p:spPr>
          <a:xfrm rot="16200000">
            <a:off x="3995936" y="5445224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8" name="17 CuadroTexto"/>
          <p:cNvSpPr txBox="1"/>
          <p:nvPr/>
        </p:nvSpPr>
        <p:spPr>
          <a:xfrm>
            <a:off x="3923928" y="530120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4788024" y="479715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N(0,1)</a:t>
            </a:r>
          </a:p>
        </p:txBody>
      </p:sp>
    </p:spTree>
  </p:cSld>
  <p:clrMapOvr>
    <a:masterClrMapping/>
  </p:clrMapOvr>
  <p:transition>
    <p:pull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357298"/>
            <a:ext cx="7772400" cy="4572000"/>
          </a:xfrm>
        </p:spPr>
        <p:txBody>
          <a:bodyPr/>
          <a:lstStyle/>
          <a:p>
            <a:r>
              <a:rPr lang="es-CR" dirty="0"/>
              <a:t>Entonces, si tenemos un problema de una  curva normal, según el enunciado, pero calculamos las probabilidades en una normal estándar: ¿qué tipo de transformación tenemos que hacer para calcular las probabilidades del enunciado en una normal estándar…?</a:t>
            </a:r>
          </a:p>
        </p:txBody>
      </p:sp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86808" cy="1143000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La curva normal estándar </a:t>
            </a:r>
            <a:r>
              <a:rPr lang="es-CR" dirty="0">
                <a:sym typeface="Wingdings" pitchFamily="2" charset="2"/>
              </a:rPr>
              <a:t> N(0,1)</a:t>
            </a:r>
            <a:endParaRPr lang="es-CR" dirty="0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69915" y="3286124"/>
            <a:ext cx="2211379" cy="1214446"/>
          </a:xfrm>
          <a:prstGeom prst="rect">
            <a:avLst/>
          </a:prstGeom>
          <a:noFill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5" y="3286124"/>
            <a:ext cx="2507793" cy="1143008"/>
          </a:xfrm>
          <a:prstGeom prst="rect">
            <a:avLst/>
          </a:prstGeom>
          <a:noFill/>
        </p:spPr>
      </p:pic>
      <p:cxnSp>
        <p:nvCxnSpPr>
          <p:cNvPr id="10" name="9 Conector recto de flecha"/>
          <p:cNvCxnSpPr/>
          <p:nvPr/>
        </p:nvCxnSpPr>
        <p:spPr>
          <a:xfrm>
            <a:off x="3357554" y="3857628"/>
            <a:ext cx="284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Flecha abajo"/>
          <p:cNvSpPr/>
          <p:nvPr/>
        </p:nvSpPr>
        <p:spPr>
          <a:xfrm>
            <a:off x="4357686" y="4214818"/>
            <a:ext cx="642942" cy="15001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2" name="11 Rectángulo"/>
          <p:cNvSpPr/>
          <p:nvPr/>
        </p:nvSpPr>
        <p:spPr>
          <a:xfrm>
            <a:off x="285720" y="4714884"/>
            <a:ext cx="2214578" cy="7858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/>
              <a:t>Normal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500826" y="4714884"/>
            <a:ext cx="2357454" cy="107157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/>
              <a:t>Normal Estándar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3071802" y="5857892"/>
            <a:ext cx="3000396" cy="85725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/>
              <a:t>Transformación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214414" y="1447800"/>
            <a:ext cx="7772400" cy="4572000"/>
          </a:xfrm>
        </p:spPr>
        <p:txBody>
          <a:bodyPr/>
          <a:lstStyle/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501122" cy="1214422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La curva normal estándar </a:t>
            </a:r>
            <a:r>
              <a:rPr lang="es-CR" dirty="0">
                <a:sym typeface="Wingdings" pitchFamily="2" charset="2"/>
              </a:rPr>
              <a:t> N(0,1)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52" y="1428736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4586262" y="3714752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</a:t>
            </a:r>
            <a:endParaRPr lang="es-CR" dirty="0"/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5443518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µ+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6443650" y="378619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µ+</a:t>
            </a:r>
            <a:r>
              <a:rPr lang="es-CR" i="1" dirty="0"/>
              <a:t> 2σ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3443254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2514560" y="371475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52" y="421481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7 CuadroTexto"/>
          <p:cNvSpPr txBox="1">
            <a:spLocks noChangeArrowheads="1"/>
          </p:cNvSpPr>
          <p:nvPr/>
        </p:nvSpPr>
        <p:spPr bwMode="auto">
          <a:xfrm>
            <a:off x="4286248" y="6416698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/>
              <a:t>0</a:t>
            </a:r>
          </a:p>
        </p:txBody>
      </p:sp>
      <p:sp>
        <p:nvSpPr>
          <p:cNvPr id="13" name="13 CuadroTexto"/>
          <p:cNvSpPr txBox="1">
            <a:spLocks noChangeArrowheads="1"/>
          </p:cNvSpPr>
          <p:nvPr/>
        </p:nvSpPr>
        <p:spPr bwMode="auto">
          <a:xfrm>
            <a:off x="5143504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</a:t>
            </a:r>
            <a:endParaRPr lang="es-CR" dirty="0"/>
          </a:p>
        </p:txBody>
      </p:sp>
      <p:sp>
        <p:nvSpPr>
          <p:cNvPr id="14" name="14 CuadroTexto"/>
          <p:cNvSpPr txBox="1">
            <a:spLocks noChangeArrowheads="1"/>
          </p:cNvSpPr>
          <p:nvPr/>
        </p:nvSpPr>
        <p:spPr bwMode="auto">
          <a:xfrm>
            <a:off x="6143636" y="6488136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2</a:t>
            </a:r>
            <a:endParaRPr lang="es-CR" dirty="0"/>
          </a:p>
        </p:txBody>
      </p:sp>
      <p:sp>
        <p:nvSpPr>
          <p:cNvPr id="15" name="15 CuadroTexto"/>
          <p:cNvSpPr txBox="1">
            <a:spLocks noChangeArrowheads="1"/>
          </p:cNvSpPr>
          <p:nvPr/>
        </p:nvSpPr>
        <p:spPr bwMode="auto">
          <a:xfrm>
            <a:off x="3143240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/>
              <a:t>-1</a:t>
            </a:r>
          </a:p>
        </p:txBody>
      </p:sp>
      <p:sp>
        <p:nvSpPr>
          <p:cNvPr id="16" name="16 CuadroTexto"/>
          <p:cNvSpPr txBox="1">
            <a:spLocks noChangeArrowheads="1"/>
          </p:cNvSpPr>
          <p:nvPr/>
        </p:nvSpPr>
        <p:spPr bwMode="auto">
          <a:xfrm>
            <a:off x="2214546" y="6416698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-2</a:t>
            </a:r>
            <a:endParaRPr lang="es-CR" dirty="0"/>
          </a:p>
        </p:txBody>
      </p:sp>
      <p:cxnSp>
        <p:nvCxnSpPr>
          <p:cNvPr id="18" name="17 Conector recto"/>
          <p:cNvCxnSpPr/>
          <p:nvPr/>
        </p:nvCxnSpPr>
        <p:spPr>
          <a:xfrm rot="5400000">
            <a:off x="5407799" y="3250405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5400000">
            <a:off x="4050477" y="4679165"/>
            <a:ext cx="3500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5800708" y="3143248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5800708" y="3286124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5800708" y="3429000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5800708" y="350043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5800708" y="3357562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5800708" y="3214686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5800708" y="3071810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5800708" y="5857892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5800708" y="5929330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5800708" y="6000768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5800708" y="6143644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5800708" y="6072206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>
            <a:off x="5800708" y="6215082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5800708" y="6286520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5800708" y="635795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5800708" y="3571876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Rectángulo"/>
          <p:cNvSpPr/>
          <p:nvPr/>
        </p:nvSpPr>
        <p:spPr>
          <a:xfrm>
            <a:off x="71406" y="1571612"/>
            <a:ext cx="1071570" cy="49292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/>
              <a:t>En valor de la proba-</a:t>
            </a:r>
          </a:p>
          <a:p>
            <a:pPr algn="ctr"/>
            <a:r>
              <a:rPr lang="es-CR" sz="2800" dirty="0" err="1"/>
              <a:t>bilidad</a:t>
            </a:r>
            <a:r>
              <a:rPr lang="es-CR" sz="2800" dirty="0"/>
              <a:t>, es exactamente lo mismo</a:t>
            </a:r>
          </a:p>
        </p:txBody>
      </p:sp>
    </p:spTree>
  </p:cSld>
  <p:clrMapOvr>
    <a:masterClrMapping/>
  </p:clrMapOvr>
  <p:transition>
    <p:wipe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1000132"/>
          </a:xfrm>
        </p:spPr>
        <p:txBody>
          <a:bodyPr>
            <a:normAutofit/>
          </a:bodyPr>
          <a:lstStyle/>
          <a:p>
            <a:pPr algn="ctr"/>
            <a:r>
              <a:rPr lang="es-CR" sz="4400" dirty="0"/>
              <a:t>Estandarización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501122" cy="5214974"/>
          </a:xfrm>
        </p:spPr>
        <p:txBody>
          <a:bodyPr/>
          <a:lstStyle/>
          <a:p>
            <a:r>
              <a:rPr lang="es-CR" dirty="0"/>
              <a:t>Para pasar de una “curva normal” a una “normal estándar”, y poder hacer el cálculo de probabilidades, debemos estandarizar.</a:t>
            </a:r>
          </a:p>
          <a:p>
            <a:endParaRPr lang="es-CR" dirty="0"/>
          </a:p>
          <a:p>
            <a:r>
              <a:rPr lang="es-CR" dirty="0"/>
              <a:t>Estandarizar una curva normal es transformarla de manera que su media sea </a:t>
            </a:r>
            <a:r>
              <a:rPr lang="es-CR" i="1" dirty="0"/>
              <a:t>cero</a:t>
            </a:r>
            <a:r>
              <a:rPr lang="es-CR" dirty="0"/>
              <a:t> y su desviación estándar sea </a:t>
            </a:r>
            <a:r>
              <a:rPr lang="es-CR" i="1" dirty="0"/>
              <a:t>uno</a:t>
            </a:r>
            <a:r>
              <a:rPr lang="es-CR" dirty="0"/>
              <a:t>. Esto se logra restando a la variable </a:t>
            </a:r>
            <a:r>
              <a:rPr lang="es-CR" i="1" dirty="0"/>
              <a:t>x</a:t>
            </a:r>
            <a:r>
              <a:rPr lang="es-CR" dirty="0"/>
              <a:t> su promedio (µ) y dividiendo la diferencia entre su desviación estándar (</a:t>
            </a:r>
            <a:r>
              <a:rPr lang="es-CR" sz="2400" i="1" dirty="0"/>
              <a:t>σ</a:t>
            </a:r>
            <a:r>
              <a:rPr lang="es-CR" dirty="0"/>
              <a:t>) .</a:t>
            </a:r>
          </a:p>
          <a:p>
            <a:endParaRPr lang="es-CR" i="1" dirty="0"/>
          </a:p>
          <a:p>
            <a:r>
              <a:rPr lang="es-CR" dirty="0"/>
              <a:t>La expresión numérica para la estandarización es:</a:t>
            </a:r>
          </a:p>
          <a:p>
            <a:endParaRPr lang="es-CR" dirty="0"/>
          </a:p>
          <a:p>
            <a:pPr>
              <a:buNone/>
            </a:pPr>
            <a:endParaRPr lang="es-CR" dirty="0"/>
          </a:p>
          <a:p>
            <a:endParaRPr lang="es-CR" dirty="0"/>
          </a:p>
          <a:p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500034" y="5286388"/>
            <a:ext cx="5572164" cy="12858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/>
              <a:t>    Z = </a:t>
            </a:r>
            <a:r>
              <a:rPr lang="es-CR" sz="3600" u="sng" dirty="0"/>
              <a:t>x-µ </a:t>
            </a:r>
            <a:r>
              <a:rPr lang="es-CR" sz="3600" dirty="0"/>
              <a:t>      </a:t>
            </a:r>
            <a:r>
              <a:rPr lang="es-CR" sz="3600" u="sng" dirty="0"/>
              <a:t>       </a:t>
            </a:r>
            <a:endParaRPr lang="es-CR" sz="3600" dirty="0"/>
          </a:p>
          <a:p>
            <a:r>
              <a:rPr lang="es-CR" sz="3600" dirty="0"/>
              <a:t>                               </a:t>
            </a:r>
            <a:r>
              <a:rPr lang="el-GR" sz="3600" dirty="0">
                <a:latin typeface="Calibri"/>
                <a:cs typeface="Calibri"/>
              </a:rPr>
              <a:t>σ</a:t>
            </a:r>
            <a:endParaRPr lang="es-CR" sz="3600" dirty="0"/>
          </a:p>
        </p:txBody>
      </p:sp>
      <p:sp>
        <p:nvSpPr>
          <p:cNvPr id="5" name="4 Flecha derecha"/>
          <p:cNvSpPr/>
          <p:nvPr/>
        </p:nvSpPr>
        <p:spPr>
          <a:xfrm>
            <a:off x="6286512" y="5214950"/>
            <a:ext cx="571504" cy="135732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"/>
          <p:cNvSpPr/>
          <p:nvPr/>
        </p:nvSpPr>
        <p:spPr>
          <a:xfrm>
            <a:off x="7072330" y="5286388"/>
            <a:ext cx="1857388" cy="1357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800" dirty="0"/>
              <a:t>N (0,1)</a:t>
            </a:r>
          </a:p>
        </p:txBody>
      </p:sp>
    </p:spTree>
  </p:cSld>
  <p:clrMapOvr>
    <a:masterClrMapping/>
  </p:clrMapOvr>
  <p:transition>
    <p:diamond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58246" cy="4572000"/>
          </a:xfrm>
        </p:spPr>
        <p:txBody>
          <a:bodyPr/>
          <a:lstStyle/>
          <a:p>
            <a:r>
              <a:rPr lang="es-CR" dirty="0"/>
              <a:t>En general, si la variable en cuestión tiene una distribución normal,  con media µ  y desviación estándar </a:t>
            </a:r>
            <a:r>
              <a:rPr lang="es-CR" sz="2400" dirty="0"/>
              <a:t>σ, basta con hacer el proceso anterior con el valor de interés “a”, para obtener una probabilidad.</a:t>
            </a:r>
          </a:p>
          <a:p>
            <a:endParaRPr lang="es-CR" sz="2400" dirty="0"/>
          </a:p>
          <a:p>
            <a:r>
              <a:rPr lang="es-CR" sz="2400" dirty="0"/>
              <a:t>La estandarización es un proceso muy simple, pero muy importante, que permite resolver problemas  para cualquier curva normal trasladándolos, por medio de una sencilla transformación algebraica , a la normal estándar.</a:t>
            </a:r>
          </a:p>
          <a:p>
            <a:endParaRPr lang="es-CR" sz="2400" dirty="0"/>
          </a:p>
          <a:p>
            <a:r>
              <a:rPr lang="es-CR" sz="2400" dirty="0"/>
              <a:t>Matemáticamente se define como:</a:t>
            </a:r>
          </a:p>
          <a:p>
            <a:endParaRPr lang="es-CR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1000132"/>
          </a:xfrm>
        </p:spPr>
        <p:txBody>
          <a:bodyPr>
            <a:normAutofit/>
          </a:bodyPr>
          <a:lstStyle/>
          <a:p>
            <a:pPr algn="ctr"/>
            <a:r>
              <a:rPr lang="es-CR" sz="4400" dirty="0"/>
              <a:t>Estandarización</a:t>
            </a:r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5786453"/>
            <a:ext cx="7500990" cy="814061"/>
          </a:xfrm>
          <a:prstGeom prst="rect">
            <a:avLst/>
          </a:prstGeom>
          <a:noFill/>
        </p:spPr>
      </p:pic>
    </p:spTree>
  </p:cSld>
  <p:clrMapOvr>
    <a:masterClrMapping/>
  </p:clrMapOvr>
  <p:transition>
    <p:zoom dir="in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214290"/>
            <a:ext cx="7772400" cy="1143000"/>
          </a:xfrm>
        </p:spPr>
        <p:txBody>
          <a:bodyPr/>
          <a:lstStyle/>
          <a:p>
            <a:r>
              <a:rPr lang="es-CR" dirty="0"/>
              <a:t>Nuestro 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428736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3714744" y="3714752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/>
              <a:t>105</a:t>
            </a:r>
          </a:p>
        </p:txBody>
      </p:sp>
      <p:sp>
        <p:nvSpPr>
          <p:cNvPr id="6" name="13 CuadroTexto"/>
          <p:cNvSpPr txBox="1">
            <a:spLocks noChangeArrowheads="1"/>
          </p:cNvSpPr>
          <p:nvPr/>
        </p:nvSpPr>
        <p:spPr bwMode="auto">
          <a:xfrm>
            <a:off x="4714876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115</a:t>
            </a:r>
            <a:endParaRPr lang="es-CR" dirty="0"/>
          </a:p>
        </p:txBody>
      </p:sp>
      <p:sp>
        <p:nvSpPr>
          <p:cNvPr id="7" name="14 CuadroTexto"/>
          <p:cNvSpPr txBox="1">
            <a:spLocks noChangeArrowheads="1"/>
          </p:cNvSpPr>
          <p:nvPr/>
        </p:nvSpPr>
        <p:spPr bwMode="auto">
          <a:xfrm>
            <a:off x="5715008" y="378619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125</a:t>
            </a:r>
            <a:endParaRPr lang="es-CR" dirty="0"/>
          </a:p>
        </p:txBody>
      </p:sp>
      <p:sp>
        <p:nvSpPr>
          <p:cNvPr id="8" name="15 CuadroTexto"/>
          <p:cNvSpPr txBox="1">
            <a:spLocks noChangeArrowheads="1"/>
          </p:cNvSpPr>
          <p:nvPr/>
        </p:nvSpPr>
        <p:spPr bwMode="auto">
          <a:xfrm>
            <a:off x="2714612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9" name="16 CuadroTexto"/>
          <p:cNvSpPr txBox="1">
            <a:spLocks noChangeArrowheads="1"/>
          </p:cNvSpPr>
          <p:nvPr/>
        </p:nvSpPr>
        <p:spPr bwMode="auto">
          <a:xfrm>
            <a:off x="1785918" y="371475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21481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7 CuadroTexto"/>
          <p:cNvSpPr txBox="1">
            <a:spLocks noChangeArrowheads="1"/>
          </p:cNvSpPr>
          <p:nvPr/>
        </p:nvSpPr>
        <p:spPr bwMode="auto">
          <a:xfrm>
            <a:off x="3557606" y="6416698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/>
              <a:t>0</a:t>
            </a:r>
          </a:p>
        </p:txBody>
      </p:sp>
      <p:sp>
        <p:nvSpPr>
          <p:cNvPr id="12" name="13 CuadroTexto"/>
          <p:cNvSpPr txBox="1">
            <a:spLocks noChangeArrowheads="1"/>
          </p:cNvSpPr>
          <p:nvPr/>
        </p:nvSpPr>
        <p:spPr bwMode="auto">
          <a:xfrm>
            <a:off x="4714876" y="648811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</a:t>
            </a:r>
            <a:endParaRPr lang="es-CR" dirty="0"/>
          </a:p>
        </p:txBody>
      </p:sp>
      <p:sp>
        <p:nvSpPr>
          <p:cNvPr id="13" name="15 CuadroTexto"/>
          <p:cNvSpPr txBox="1">
            <a:spLocks noChangeArrowheads="1"/>
          </p:cNvSpPr>
          <p:nvPr/>
        </p:nvSpPr>
        <p:spPr bwMode="auto">
          <a:xfrm>
            <a:off x="2414598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/>
              <a:t>-1</a:t>
            </a:r>
          </a:p>
        </p:txBody>
      </p:sp>
      <p:sp>
        <p:nvSpPr>
          <p:cNvPr id="14" name="16 CuadroTexto"/>
          <p:cNvSpPr txBox="1">
            <a:spLocks noChangeArrowheads="1"/>
          </p:cNvSpPr>
          <p:nvPr/>
        </p:nvSpPr>
        <p:spPr bwMode="auto">
          <a:xfrm>
            <a:off x="1485904" y="6416698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-2</a:t>
            </a:r>
            <a:endParaRPr lang="es-CR" dirty="0"/>
          </a:p>
        </p:txBody>
      </p:sp>
      <p:cxnSp>
        <p:nvCxnSpPr>
          <p:cNvPr id="16" name="15 Conector recto"/>
          <p:cNvCxnSpPr/>
          <p:nvPr/>
        </p:nvCxnSpPr>
        <p:spPr>
          <a:xfrm rot="5400000">
            <a:off x="3929058" y="4857760"/>
            <a:ext cx="314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13 CuadroTexto"/>
          <p:cNvSpPr txBox="1">
            <a:spLocks noChangeArrowheads="1"/>
          </p:cNvSpPr>
          <p:nvPr/>
        </p:nvSpPr>
        <p:spPr bwMode="auto">
          <a:xfrm>
            <a:off x="5715013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2</a:t>
            </a:r>
            <a:endParaRPr lang="es-CR" dirty="0"/>
          </a:p>
        </p:txBody>
      </p:sp>
      <p:sp>
        <p:nvSpPr>
          <p:cNvPr id="36" name="35 Rectángulo"/>
          <p:cNvSpPr/>
          <p:nvPr/>
        </p:nvSpPr>
        <p:spPr>
          <a:xfrm>
            <a:off x="5857884" y="228599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120</a:t>
            </a:r>
          </a:p>
        </p:txBody>
      </p:sp>
      <p:cxnSp>
        <p:nvCxnSpPr>
          <p:cNvPr id="40" name="39 Conector recto de flecha"/>
          <p:cNvCxnSpPr/>
          <p:nvPr/>
        </p:nvCxnSpPr>
        <p:spPr>
          <a:xfrm rot="5400000">
            <a:off x="5464975" y="2893215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Rectángulo"/>
          <p:cNvSpPr/>
          <p:nvPr/>
        </p:nvSpPr>
        <p:spPr>
          <a:xfrm>
            <a:off x="5929322" y="500063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</a:t>
            </a:r>
          </a:p>
        </p:txBody>
      </p:sp>
      <p:cxnSp>
        <p:nvCxnSpPr>
          <p:cNvPr id="42" name="41 Conector recto de flecha"/>
          <p:cNvCxnSpPr/>
          <p:nvPr/>
        </p:nvCxnSpPr>
        <p:spPr>
          <a:xfrm rot="5400000">
            <a:off x="5536413" y="560785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5500694" y="614364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5500694" y="621508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5500694" y="628652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5500694" y="635795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 flipV="1">
            <a:off x="5500694" y="3357562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5500694" y="3571876"/>
            <a:ext cx="1500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5500694" y="3500438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5500694" y="3500438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5500694" y="3429000"/>
            <a:ext cx="285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heel spokes="1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857232"/>
            <a:ext cx="7772400" cy="5643602"/>
          </a:xfrm>
        </p:spPr>
        <p:txBody>
          <a:bodyPr/>
          <a:lstStyle/>
          <a:p>
            <a:pPr>
              <a:buNone/>
            </a:pPr>
            <a:r>
              <a:rPr lang="es-CR" sz="2400" dirty="0"/>
              <a:t>“… , cuál sería la probabilidad de encontrar a una persona con una presión diastólica superior a 120…”</a:t>
            </a:r>
          </a:p>
          <a:p>
            <a:pPr>
              <a:buNone/>
            </a:pPr>
            <a:r>
              <a:rPr lang="es-CR" sz="2400" dirty="0"/>
              <a:t>µ = 105         </a:t>
            </a:r>
          </a:p>
          <a:p>
            <a:pPr>
              <a:buNone/>
            </a:pPr>
            <a:r>
              <a:rPr lang="es-CR" sz="2400" dirty="0"/>
              <a:t>σ = 10</a:t>
            </a:r>
          </a:p>
          <a:p>
            <a:pPr>
              <a:buNone/>
            </a:pPr>
            <a:endParaRPr lang="es-CR" sz="2400" dirty="0"/>
          </a:p>
          <a:p>
            <a:pPr>
              <a:buNone/>
            </a:pPr>
            <a:r>
              <a:rPr lang="es-CR" sz="2400" dirty="0"/>
              <a:t>Entonces estandarizamos: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endParaRPr lang="es-CR" dirty="0"/>
          </a:p>
          <a:p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214282" y="3429000"/>
            <a:ext cx="5072098" cy="10001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R" sz="3600" dirty="0"/>
              <a:t>     Z = </a:t>
            </a:r>
            <a:r>
              <a:rPr lang="es-CR" sz="3600" u="sng" dirty="0"/>
              <a:t>120-105</a:t>
            </a:r>
            <a:r>
              <a:rPr lang="es-CR" sz="3600" dirty="0"/>
              <a:t> = </a:t>
            </a:r>
            <a:r>
              <a:rPr lang="es-CR" sz="3600" u="sng" dirty="0"/>
              <a:t>15</a:t>
            </a:r>
            <a:r>
              <a:rPr lang="es-CR" sz="3600" dirty="0"/>
              <a:t> = 1.5</a:t>
            </a:r>
            <a:r>
              <a:rPr lang="es-CR" sz="3600" u="sng" dirty="0"/>
              <a:t> </a:t>
            </a:r>
            <a:r>
              <a:rPr lang="es-CR" sz="3600" dirty="0"/>
              <a:t> </a:t>
            </a:r>
            <a:r>
              <a:rPr lang="es-CR" sz="3600" u="sng" dirty="0"/>
              <a:t> </a:t>
            </a:r>
            <a:r>
              <a:rPr lang="es-CR" sz="3600" dirty="0"/>
              <a:t>      </a:t>
            </a:r>
            <a:r>
              <a:rPr lang="es-CR" sz="3600" u="sng" dirty="0"/>
              <a:t>       </a:t>
            </a:r>
            <a:endParaRPr lang="es-CR" sz="3600" dirty="0"/>
          </a:p>
          <a:p>
            <a:r>
              <a:rPr lang="es-CR" sz="3600" dirty="0"/>
              <a:t>                </a:t>
            </a:r>
            <a:r>
              <a:rPr lang="es-CR" sz="3600" dirty="0">
                <a:latin typeface="Calibri"/>
                <a:cs typeface="Calibri"/>
              </a:rPr>
              <a:t>10          10  </a:t>
            </a:r>
            <a:endParaRPr lang="es-CR" sz="3600" dirty="0"/>
          </a:p>
        </p:txBody>
      </p:sp>
      <p:sp>
        <p:nvSpPr>
          <p:cNvPr id="5" name="4 Flecha derecha"/>
          <p:cNvSpPr/>
          <p:nvPr/>
        </p:nvSpPr>
        <p:spPr>
          <a:xfrm>
            <a:off x="6000760" y="3286124"/>
            <a:ext cx="357190" cy="114300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"/>
          <p:cNvSpPr/>
          <p:nvPr/>
        </p:nvSpPr>
        <p:spPr>
          <a:xfrm>
            <a:off x="6643702" y="3286124"/>
            <a:ext cx="1857388" cy="1357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800" dirty="0"/>
              <a:t>N (0,1)</a:t>
            </a:r>
          </a:p>
        </p:txBody>
      </p:sp>
      <p:sp>
        <p:nvSpPr>
          <p:cNvPr id="7" name="6 Rectángulo"/>
          <p:cNvSpPr/>
          <p:nvPr/>
        </p:nvSpPr>
        <p:spPr>
          <a:xfrm>
            <a:off x="5143504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???</a:t>
            </a:r>
          </a:p>
        </p:txBody>
      </p:sp>
      <p:cxnSp>
        <p:nvCxnSpPr>
          <p:cNvPr id="8" name="7 Conector recto de flecha"/>
          <p:cNvCxnSpPr/>
          <p:nvPr/>
        </p:nvCxnSpPr>
        <p:spPr>
          <a:xfrm rot="5400000">
            <a:off x="4750595" y="596504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4714876" y="650083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4714876" y="657227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4714876" y="664371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714876" y="671514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4840464"/>
            <a:ext cx="6643734" cy="1946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13 Rectángulo"/>
          <p:cNvSpPr/>
          <p:nvPr/>
        </p:nvSpPr>
        <p:spPr>
          <a:xfrm>
            <a:off x="5214942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1.5</a:t>
            </a:r>
          </a:p>
        </p:txBody>
      </p:sp>
      <p:cxnSp>
        <p:nvCxnSpPr>
          <p:cNvPr id="15" name="14 Conector recto de flecha"/>
          <p:cNvCxnSpPr/>
          <p:nvPr/>
        </p:nvCxnSpPr>
        <p:spPr>
          <a:xfrm rot="5400000">
            <a:off x="4714876" y="5929330"/>
            <a:ext cx="857256" cy="714380"/>
          </a:xfrm>
          <a:prstGeom prst="straightConnector1">
            <a:avLst/>
          </a:prstGeom>
          <a:ln>
            <a:solidFill>
              <a:srgbClr val="002060">
                <a:alpha val="98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786314" y="650083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786314" y="657227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786314" y="664371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786314" y="671514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>
            <a:off x="4643438" y="6572272"/>
            <a:ext cx="285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flipV="1">
            <a:off x="5214942" y="6643710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 flipV="1">
            <a:off x="5572132" y="6643710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5929322" y="6643734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 flipV="1">
            <a:off x="5143504" y="6215082"/>
            <a:ext cx="2286016" cy="42862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/>
        </p:nvSpPr>
        <p:spPr>
          <a:xfrm>
            <a:off x="7572396" y="6000768"/>
            <a:ext cx="928694" cy="35719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000" dirty="0"/>
              <a:t>0.0668</a:t>
            </a: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58246" cy="5000660"/>
          </a:xfrm>
        </p:spPr>
        <p:txBody>
          <a:bodyPr/>
          <a:lstStyle/>
          <a:p>
            <a:r>
              <a:rPr lang="es-CR" dirty="0"/>
              <a:t>Sería encontrar entonces P(z ≥ 1.5), ya que el enunciado dice persona con presión </a:t>
            </a:r>
            <a:r>
              <a:rPr lang="es-CR" b="1" i="1" u="sng" dirty="0"/>
              <a:t>superior</a:t>
            </a:r>
            <a:r>
              <a:rPr lang="es-CR" b="1" i="1" dirty="0"/>
              <a:t>. </a:t>
            </a:r>
            <a:r>
              <a:rPr lang="es-CR" dirty="0"/>
              <a:t>En </a:t>
            </a:r>
            <a:r>
              <a:rPr lang="es-CR" dirty="0" err="1"/>
              <a:t>términnos</a:t>
            </a:r>
            <a:r>
              <a:rPr lang="es-CR" dirty="0"/>
              <a:t> de probabilidades sería.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2714620"/>
            <a:ext cx="1714512" cy="460890"/>
          </a:xfrm>
          <a:prstGeom prst="rect">
            <a:avLst/>
          </a:prstGeom>
          <a:noFill/>
        </p:spPr>
      </p:pic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9730" y="3429000"/>
            <a:ext cx="3236452" cy="787708"/>
          </a:xfrm>
          <a:prstGeom prst="rect">
            <a:avLst/>
          </a:prstGeom>
          <a:noFill/>
        </p:spPr>
      </p:pic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4429131"/>
            <a:ext cx="1714512" cy="857256"/>
          </a:xfrm>
          <a:prstGeom prst="rect">
            <a:avLst/>
          </a:prstGeom>
          <a:noFill/>
        </p:spPr>
      </p:pic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34" y="5572140"/>
            <a:ext cx="1800238" cy="500066"/>
          </a:xfrm>
          <a:prstGeom prst="rect">
            <a:avLst/>
          </a:prstGeom>
          <a:noFill/>
        </p:spPr>
      </p:pic>
      <p:sp>
        <p:nvSpPr>
          <p:cNvPr id="15" name="14 Cerrar llave"/>
          <p:cNvSpPr/>
          <p:nvPr/>
        </p:nvSpPr>
        <p:spPr>
          <a:xfrm>
            <a:off x="3857620" y="2571744"/>
            <a:ext cx="500066" cy="35719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6" name="15 Rectángulo"/>
          <p:cNvSpPr/>
          <p:nvPr/>
        </p:nvSpPr>
        <p:spPr>
          <a:xfrm>
            <a:off x="5000628" y="3857628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4000" dirty="0"/>
              <a:t>0.0668</a:t>
            </a:r>
          </a:p>
        </p:txBody>
      </p:sp>
    </p:spTree>
  </p:cSld>
  <p:clrMapOvr>
    <a:masterClrMapping/>
  </p:clrMapOvr>
  <p:transition>
    <p:split orient="vert" dir="in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214422"/>
            <a:ext cx="7772400" cy="5357850"/>
          </a:xfrm>
        </p:spPr>
        <p:txBody>
          <a:bodyPr/>
          <a:lstStyle/>
          <a:p>
            <a:r>
              <a:rPr lang="es-CR" dirty="0"/>
              <a:t>Entonces la respuesta sería que se tiene una probabilidad de 0.0668 de encontrar personas con más de $ 120 de salario en un día, lo cuál es un hecho muy poco probable…</a:t>
            </a:r>
          </a:p>
          <a:p>
            <a:endParaRPr lang="es-CR" dirty="0"/>
          </a:p>
          <a:p>
            <a:r>
              <a:rPr lang="es-CR" dirty="0"/>
              <a:t>Ahora, que pasa si en vez de encontrar la probabilidad anterior, no gustaría saber:</a:t>
            </a:r>
          </a:p>
          <a:p>
            <a:endParaRPr lang="es-CR" dirty="0"/>
          </a:p>
          <a:p>
            <a:pPr>
              <a:buNone/>
            </a:pPr>
            <a:r>
              <a:rPr lang="es-CR" dirty="0"/>
              <a:t>1. La probabilidad de personas con salarios inferiores a $ 115.</a:t>
            </a:r>
          </a:p>
          <a:p>
            <a:pPr>
              <a:buNone/>
            </a:pPr>
            <a:r>
              <a:rPr lang="es-CR" dirty="0"/>
              <a:t>2. Personas con salarios entre $110 y $120.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</p:spTree>
  </p:cSld>
  <p:clrMapOvr>
    <a:masterClrMapping/>
  </p:clrMapOvr>
  <p:transition>
    <p:newsflash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8643998" cy="521497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s-CR" dirty="0"/>
              <a:t>La probabilidad de personas con menos de 115 de presión D.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71448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3714744" y="4000504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/>
              <a:t>105</a:t>
            </a:r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4714876" y="4000504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115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5715008" y="407194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125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2714612" y="4000504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1785918" y="4000504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500570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>
            <a:off x="3286116" y="4929198"/>
            <a:ext cx="3571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5857884" y="2571744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115</a:t>
            </a:r>
          </a:p>
        </p:txBody>
      </p:sp>
      <p:cxnSp>
        <p:nvCxnSpPr>
          <p:cNvPr id="14" name="13 Conector recto de flecha"/>
          <p:cNvCxnSpPr/>
          <p:nvPr/>
        </p:nvCxnSpPr>
        <p:spPr>
          <a:xfrm rot="5400000">
            <a:off x="5036347" y="3178967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1071538" y="4929198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??????</a:t>
            </a:r>
          </a:p>
        </p:txBody>
      </p:sp>
      <p:cxnSp>
        <p:nvCxnSpPr>
          <p:cNvPr id="16" name="15 Conector recto de flecha"/>
          <p:cNvCxnSpPr/>
          <p:nvPr/>
        </p:nvCxnSpPr>
        <p:spPr>
          <a:xfrm rot="5400000">
            <a:off x="5107785" y="5893611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786182" y="4929198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643306" y="5072074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 flipV="1">
            <a:off x="3571868" y="5214950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 flipV="1">
            <a:off x="3428992" y="5357826"/>
            <a:ext cx="128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 flipV="1">
            <a:off x="3357554" y="5500702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 flipV="1">
            <a:off x="3286116" y="5643578"/>
            <a:ext cx="157163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flipV="1">
            <a:off x="3143240" y="5786454"/>
            <a:ext cx="178595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3071802" y="5929330"/>
            <a:ext cx="2000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flipV="1">
            <a:off x="3000364" y="6072206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flipV="1">
            <a:off x="2857488" y="6215082"/>
            <a:ext cx="221457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flipV="1">
            <a:off x="2643174" y="6357958"/>
            <a:ext cx="242889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2500298" y="6472262"/>
            <a:ext cx="2571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2143108" y="6572272"/>
            <a:ext cx="2928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1142976" y="6643710"/>
            <a:ext cx="392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/>
          <p:nvPr/>
        </p:nvCxnSpPr>
        <p:spPr>
          <a:xfrm>
            <a:off x="1643042" y="5357826"/>
            <a:ext cx="92869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Rectángulo"/>
          <p:cNvSpPr/>
          <p:nvPr/>
        </p:nvSpPr>
        <p:spPr>
          <a:xfrm>
            <a:off x="5357818" y="514351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</a:t>
            </a:r>
          </a:p>
        </p:txBody>
      </p:sp>
      <p:sp>
        <p:nvSpPr>
          <p:cNvPr id="60" name="59 Rectángulo"/>
          <p:cNvSpPr/>
          <p:nvPr/>
        </p:nvSpPr>
        <p:spPr>
          <a:xfrm>
            <a:off x="1071538" y="214311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??????</a:t>
            </a:r>
          </a:p>
        </p:txBody>
      </p:sp>
      <p:cxnSp>
        <p:nvCxnSpPr>
          <p:cNvPr id="61" name="60 Conector recto"/>
          <p:cNvCxnSpPr/>
          <p:nvPr/>
        </p:nvCxnSpPr>
        <p:spPr>
          <a:xfrm>
            <a:off x="3786182" y="2143116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3643306" y="2285992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 flipV="1">
            <a:off x="3571868" y="2428868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flipV="1">
            <a:off x="3428992" y="2571744"/>
            <a:ext cx="128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 flipV="1">
            <a:off x="3357554" y="2714620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flipV="1">
            <a:off x="3286116" y="2857496"/>
            <a:ext cx="157163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 flipV="1">
            <a:off x="3143240" y="3000372"/>
            <a:ext cx="178595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 flipV="1">
            <a:off x="3000364" y="3286124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flipV="1">
            <a:off x="2857488" y="3429000"/>
            <a:ext cx="221457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 flipV="1">
            <a:off x="2643174" y="3571876"/>
            <a:ext cx="242889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2500298" y="3686180"/>
            <a:ext cx="2571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2143108" y="3786190"/>
            <a:ext cx="2928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142976" y="3857628"/>
            <a:ext cx="392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>
            <a:off x="1643042" y="2571744"/>
            <a:ext cx="92869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flipV="1">
            <a:off x="3000364" y="3143248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70"/>
            <a:ext cx="8358246" cy="5786454"/>
          </a:xfrm>
        </p:spPr>
        <p:txBody>
          <a:bodyPr>
            <a:normAutofit fontScale="92500"/>
          </a:bodyPr>
          <a:lstStyle/>
          <a:p>
            <a:r>
              <a:rPr lang="es-CR" dirty="0"/>
              <a:t>La solución sería:</a:t>
            </a:r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pPr>
              <a:buNone/>
            </a:pPr>
            <a:r>
              <a:rPr lang="es-CR" dirty="0"/>
              <a:t>       </a:t>
            </a:r>
          </a:p>
          <a:p>
            <a:endParaRPr lang="es-CR" dirty="0"/>
          </a:p>
          <a:p>
            <a:pPr>
              <a:buNone/>
            </a:pPr>
            <a:r>
              <a:rPr lang="es-CR" dirty="0"/>
              <a:t>R: se tiene una probabilidad de 0.8413 de encontrar personas con menos de $ 115 salario en un día, lo cuál es un hecho muy probable…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2071678"/>
            <a:ext cx="1594496" cy="428628"/>
          </a:xfrm>
          <a:prstGeom prst="rect">
            <a:avLst/>
          </a:prstGeom>
          <a:noFill/>
        </p:spPr>
      </p:pic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3000372"/>
            <a:ext cx="3228687" cy="785818"/>
          </a:xfrm>
          <a:prstGeom prst="rect">
            <a:avLst/>
          </a:prstGeom>
          <a:noFill/>
        </p:spPr>
      </p:pic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4143380"/>
            <a:ext cx="1571636" cy="785818"/>
          </a:xfrm>
          <a:prstGeom prst="rect">
            <a:avLst/>
          </a:prstGeom>
          <a:noFill/>
        </p:spPr>
      </p:pic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5429264"/>
            <a:ext cx="1520201" cy="500066"/>
          </a:xfrm>
          <a:prstGeom prst="rect">
            <a:avLst/>
          </a:prstGeom>
          <a:noFill/>
        </p:spPr>
      </p:pic>
      <p:sp>
        <p:nvSpPr>
          <p:cNvPr id="13" name="12 Cerrar llave"/>
          <p:cNvSpPr/>
          <p:nvPr/>
        </p:nvSpPr>
        <p:spPr>
          <a:xfrm>
            <a:off x="3714744" y="2000240"/>
            <a:ext cx="500066" cy="38576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" name="13 Rectángulo"/>
          <p:cNvSpPr/>
          <p:nvPr/>
        </p:nvSpPr>
        <p:spPr>
          <a:xfrm>
            <a:off x="4643438" y="3357562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4000" dirty="0"/>
              <a:t>0.8413</a:t>
            </a:r>
          </a:p>
        </p:txBody>
      </p:sp>
    </p:spTree>
  </p:cSld>
  <p:clrMapOvr>
    <a:masterClrMapping/>
  </p:clrMapOvr>
  <p:transition>
    <p:strips dir="r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358246" cy="5214974"/>
          </a:xfrm>
        </p:spPr>
        <p:txBody>
          <a:bodyPr/>
          <a:lstStyle/>
          <a:p>
            <a:r>
              <a:rPr lang="es-CR" dirty="0"/>
              <a:t>La probabilidad de personas entre 110 y 120 de presión D.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785794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643050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3428992" y="3929066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/>
              <a:t>105</a:t>
            </a:r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4429124" y="3929066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115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5429256" y="4000504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125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2428860" y="3929066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1500166" y="3929066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4429132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>
            <a:off x="3643306" y="5072074"/>
            <a:ext cx="314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5857884" y="250030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120</a:t>
            </a:r>
          </a:p>
        </p:txBody>
      </p:sp>
      <p:cxnSp>
        <p:nvCxnSpPr>
          <p:cNvPr id="14" name="13 Conector recto de flecha"/>
          <p:cNvCxnSpPr/>
          <p:nvPr/>
        </p:nvCxnSpPr>
        <p:spPr>
          <a:xfrm rot="5400000">
            <a:off x="5179223" y="310752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1285852" y="550070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</a:t>
            </a:r>
          </a:p>
        </p:txBody>
      </p:sp>
      <p:cxnSp>
        <p:nvCxnSpPr>
          <p:cNvPr id="16" name="15 Conector recto de flecha"/>
          <p:cNvCxnSpPr/>
          <p:nvPr/>
        </p:nvCxnSpPr>
        <p:spPr>
          <a:xfrm rot="5400000">
            <a:off x="5179223" y="5893611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>
            <a:off x="2285984" y="5786454"/>
            <a:ext cx="1857388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"/>
          <p:cNvSpPr/>
          <p:nvPr/>
        </p:nvSpPr>
        <p:spPr>
          <a:xfrm>
            <a:off x="5929322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</a:t>
            </a:r>
          </a:p>
        </p:txBody>
      </p:sp>
      <p:cxnSp>
        <p:nvCxnSpPr>
          <p:cNvPr id="33" name="32 Conector recto"/>
          <p:cNvCxnSpPr/>
          <p:nvPr/>
        </p:nvCxnSpPr>
        <p:spPr>
          <a:xfrm rot="5400000">
            <a:off x="2143108" y="4500570"/>
            <a:ext cx="4286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rot="10800000">
            <a:off x="4286248" y="3786190"/>
            <a:ext cx="9286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 rot="10800000">
            <a:off x="4286249" y="3714751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 rot="10800000">
            <a:off x="4286248" y="3643313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 rot="10800000">
            <a:off x="4286248" y="3571876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rot="10800000">
            <a:off x="4286248" y="3500438"/>
            <a:ext cx="8572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rot="10800000">
            <a:off x="4286248" y="3429000"/>
            <a:ext cx="7858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rot="10800000" flipV="1">
            <a:off x="4286248" y="3357561"/>
            <a:ext cx="71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 rot="10800000">
            <a:off x="4286248" y="328612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rot="10800000">
            <a:off x="4286248" y="3214686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rot="10800000" flipV="1">
            <a:off x="4286248" y="3143247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 rot="10800000" flipV="1">
            <a:off x="4286248" y="3071809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 rot="10800000">
            <a:off x="4286248" y="3000372"/>
            <a:ext cx="428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rot="10800000" flipV="1">
            <a:off x="4286248" y="2928933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rot="10800000" flipV="1">
            <a:off x="4286248" y="2857495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 rot="10800000" flipV="1">
            <a:off x="4286248" y="2786057"/>
            <a:ext cx="2857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 rot="10800000" flipV="1">
            <a:off x="4286248" y="2714619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 rot="10800000" flipV="1">
            <a:off x="4286248" y="2643181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 rot="10800000" flipV="1">
            <a:off x="4286248" y="2571743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 rot="10800000" flipV="1">
            <a:off x="4286248" y="2500305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 de flecha"/>
          <p:cNvCxnSpPr/>
          <p:nvPr/>
        </p:nvCxnSpPr>
        <p:spPr>
          <a:xfrm rot="5400000">
            <a:off x="5179224" y="589360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 rot="10800000">
            <a:off x="4286249" y="6572270"/>
            <a:ext cx="9286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10800000">
            <a:off x="4286250" y="6500831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rot="10800000">
            <a:off x="4286249" y="6429393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rot="10800000">
            <a:off x="4286249" y="6357956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"/>
          <p:cNvCxnSpPr/>
          <p:nvPr/>
        </p:nvCxnSpPr>
        <p:spPr>
          <a:xfrm rot="10800000">
            <a:off x="4286249" y="6286518"/>
            <a:ext cx="8572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 rot="10800000">
            <a:off x="4286249" y="6215080"/>
            <a:ext cx="7858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 rot="10800000" flipV="1">
            <a:off x="4286249" y="6143641"/>
            <a:ext cx="71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 rot="10800000">
            <a:off x="4286249" y="607220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rot="10800000">
            <a:off x="4286250" y="6000766"/>
            <a:ext cx="571503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 rot="10800000" flipV="1">
            <a:off x="4286249" y="5929327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93 Conector recto"/>
          <p:cNvCxnSpPr/>
          <p:nvPr/>
        </p:nvCxnSpPr>
        <p:spPr>
          <a:xfrm rot="10800000" flipV="1">
            <a:off x="4286249" y="5857889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 rot="10800000">
            <a:off x="4286249" y="5786452"/>
            <a:ext cx="428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95 Conector recto"/>
          <p:cNvCxnSpPr/>
          <p:nvPr/>
        </p:nvCxnSpPr>
        <p:spPr>
          <a:xfrm rot="10800000" flipV="1">
            <a:off x="4286249" y="5715013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 rot="10800000" flipV="1">
            <a:off x="4286249" y="5643575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97 Conector recto"/>
          <p:cNvCxnSpPr/>
          <p:nvPr/>
        </p:nvCxnSpPr>
        <p:spPr>
          <a:xfrm rot="10800000" flipV="1">
            <a:off x="4286249" y="5572137"/>
            <a:ext cx="2857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 rot="10800000" flipV="1">
            <a:off x="4286249" y="5500699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"/>
          <p:cNvCxnSpPr/>
          <p:nvPr/>
        </p:nvCxnSpPr>
        <p:spPr>
          <a:xfrm rot="10800000" flipV="1">
            <a:off x="4286249" y="5429261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 rot="10800000" flipV="1">
            <a:off x="4286249" y="5357823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101 Conector recto"/>
          <p:cNvCxnSpPr/>
          <p:nvPr/>
        </p:nvCxnSpPr>
        <p:spPr>
          <a:xfrm rot="10800000">
            <a:off x="4286250" y="5286386"/>
            <a:ext cx="142875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105 Conector recto de flecha"/>
          <p:cNvCxnSpPr/>
          <p:nvPr/>
        </p:nvCxnSpPr>
        <p:spPr>
          <a:xfrm rot="16200000" flipH="1">
            <a:off x="3607587" y="3178967"/>
            <a:ext cx="71438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108 Rectángulo"/>
          <p:cNvSpPr/>
          <p:nvPr/>
        </p:nvSpPr>
        <p:spPr>
          <a:xfrm>
            <a:off x="3143240" y="264318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110</a:t>
            </a:r>
          </a:p>
        </p:txBody>
      </p:sp>
    </p:spTree>
  </p:cSld>
  <p:clrMapOvr>
    <a:masterClrMapping/>
  </p:clrMapOvr>
  <p:transition>
    <p:plus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000108"/>
            <a:ext cx="7786742" cy="5357850"/>
          </a:xfrm>
        </p:spPr>
        <p:txBody>
          <a:bodyPr/>
          <a:lstStyle/>
          <a:p>
            <a:r>
              <a:rPr lang="es-CR" dirty="0"/>
              <a:t>La solución sería:</a:t>
            </a:r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785794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6" y="1714488"/>
            <a:ext cx="2554623" cy="428628"/>
          </a:xfrm>
          <a:prstGeom prst="rect">
            <a:avLst/>
          </a:prstGeom>
          <a:noFill/>
        </p:spPr>
      </p:pic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2357430"/>
            <a:ext cx="4627940" cy="714380"/>
          </a:xfrm>
          <a:prstGeom prst="rect">
            <a:avLst/>
          </a:prstGeom>
          <a:noFill/>
        </p:spPr>
      </p:pic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3214685"/>
            <a:ext cx="2214578" cy="743581"/>
          </a:xfrm>
          <a:prstGeom prst="rect">
            <a:avLst/>
          </a:prstGeom>
          <a:noFill/>
        </p:spPr>
      </p:pic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7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4286256"/>
            <a:ext cx="2143140" cy="719594"/>
          </a:xfrm>
          <a:prstGeom prst="rect">
            <a:avLst/>
          </a:prstGeom>
          <a:noFill/>
        </p:spPr>
      </p:pic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9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19" y="5286388"/>
            <a:ext cx="2928959" cy="526791"/>
          </a:xfrm>
          <a:prstGeom prst="rect">
            <a:avLst/>
          </a:prstGeom>
          <a:noFill/>
        </p:spPr>
      </p:pic>
      <p:sp>
        <p:nvSpPr>
          <p:cNvPr id="17" name="16 Cerrar llave"/>
          <p:cNvSpPr/>
          <p:nvPr/>
        </p:nvSpPr>
        <p:spPr>
          <a:xfrm>
            <a:off x="5000628" y="1643050"/>
            <a:ext cx="571504" cy="42148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8" name="17 Rectángulo"/>
          <p:cNvSpPr/>
          <p:nvPr/>
        </p:nvSpPr>
        <p:spPr>
          <a:xfrm>
            <a:off x="5715008" y="3143248"/>
            <a:ext cx="3143272" cy="214314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3600" dirty="0"/>
              <a:t>=0.6915-0.9332</a:t>
            </a:r>
          </a:p>
          <a:p>
            <a:pPr algn="ctr"/>
            <a:endParaRPr lang="es-CR" sz="3600" dirty="0"/>
          </a:p>
          <a:p>
            <a:pPr algn="ctr"/>
            <a:r>
              <a:rPr lang="es-CR" sz="3600" dirty="0"/>
              <a:t>0.2417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49434FF-D8C5-43D2-8256-BC89929EA1BD}"/>
              </a:ext>
            </a:extLst>
          </p:cNvPr>
          <p:cNvSpPr txBox="1"/>
          <p:nvPr/>
        </p:nvSpPr>
        <p:spPr>
          <a:xfrm>
            <a:off x="357158" y="6093296"/>
            <a:ext cx="80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¿Cómo deberíamos concluir la presente probabilidad?</a:t>
            </a:r>
            <a:endParaRPr lang="en-US" dirty="0"/>
          </a:p>
        </p:txBody>
      </p:sp>
    </p:spTree>
  </p:cSld>
  <p:clrMapOvr>
    <a:masterClrMapping/>
  </p:clrMapOvr>
  <p:transition>
    <p:spli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2910" y="-24"/>
            <a:ext cx="7772400" cy="764728"/>
          </a:xfrm>
        </p:spPr>
        <p:txBody>
          <a:bodyPr/>
          <a:lstStyle/>
          <a:p>
            <a:pPr algn="ctr"/>
            <a:r>
              <a:rPr lang="es-CR" dirty="0"/>
              <a:t>Reseñas finales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908720"/>
            <a:ext cx="6372200" cy="5949280"/>
          </a:xfrm>
        </p:spPr>
        <p:txBody>
          <a:bodyPr/>
          <a:lstStyle/>
          <a:p>
            <a:pPr algn="just"/>
            <a:r>
              <a:rPr lang="es-CR" sz="2400" dirty="0"/>
              <a:t>El cálculo de probabilidades mediante la curva normal estándar es, sin duda alguna, una de las mejores herramientas que se crearon en la estadística.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La estandarización es un método capas de obtener resultados probabilísticos a partir de la suposición que estamos trabajando con datos que se distribuyen normalmente. Este supuesto será muy importante para los próximos temas.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Además, muchos de los fundamentos para elegir el nivel de confianza en un intervalo de confianza, o el nivel de rechazo en una prueba de hipótesis se fundamenta en las probabilidades de estas dos curvas vistas en este capítulo.</a:t>
            </a:r>
          </a:p>
        </p:txBody>
      </p:sp>
      <p:pic>
        <p:nvPicPr>
          <p:cNvPr id="5122" name="Picture 2" descr="http://biblioteca.itson.mx/oa/educacion/oa1/ParadigmasInvestigacion/img/conclusion_image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052736"/>
            <a:ext cx="2459467" cy="2808312"/>
          </a:xfrm>
          <a:prstGeom prst="rect">
            <a:avLst/>
          </a:prstGeom>
          <a:noFill/>
        </p:spPr>
      </p:pic>
      <p:pic>
        <p:nvPicPr>
          <p:cNvPr id="5124" name="Picture 4" descr="http://2.bp.blogspot.com/_sf_zdKniVc0/SA0woJO-_NI/AAAAAAAABDs/d0-5F6L9xPA/s400/conclusion+historic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4005064"/>
            <a:ext cx="2376264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ld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http://2.bp.blogspot.com/_l2oFLpsvMhc/RveAYgMqnQI/AAAAAAAAAII/I2Fp0nyNDhw/s400/20070326114706-f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-24"/>
            <a:ext cx="9144001" cy="6858024"/>
          </a:xfrm>
          <a:prstGeom prst="rect">
            <a:avLst/>
          </a:prstGeom>
          <a:noFill/>
        </p:spPr>
      </p:pic>
    </p:spTree>
  </p:cSld>
  <p:clrMapOvr>
    <a:masterClrMapping/>
  </p:clrMapOvr>
  <p:transition>
    <p:cut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dad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Equidad">
    <a:majorFont>
      <a:latin typeface="Franklin Gothic Book"/>
      <a:ea typeface=""/>
      <a:cs typeface=""/>
      <a:font script="Grek" typeface="Calibri"/>
      <a:font script="Cyrl" typeface="Calibri"/>
      <a:font script="Jpan" typeface="HGｺﾞｼｯｸM"/>
      <a:font script="Hang" typeface="바탕"/>
      <a:font script="Hans" typeface="幼圆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Perpetua"/>
      <a:ea typeface=""/>
      <a:cs typeface=""/>
      <a:font script="Grek" typeface="Cambria"/>
      <a:font script="Cyrl" typeface="Cambria"/>
      <a:font script="Jpan" typeface="HG創英ﾌﾟﾚｾﾞﾝｽEB"/>
      <a:font script="Hang" typeface="맑은 고딕"/>
      <a:font script="Hans" typeface="宋体"/>
      <a:font script="Hant" typeface="新細明體"/>
      <a:font script="Arab" typeface="Times New Roman"/>
      <a:font script="Hebr" typeface="Aharoni"/>
      <a:font script="Thai" typeface="Eucrosia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Equidad">
    <a:fillStyleLst>
      <a:solidFill>
        <a:schemeClr val="phClr"/>
      </a:solidFill>
      <a:blipFill>
        <a:blip xmlns:r="http://schemas.openxmlformats.org/officeDocument/2006/relationships" r:embed="rId1">
          <a:duotone>
            <a:schemeClr val="phClr">
              <a:tint val="30000"/>
              <a:satMod val="300000"/>
            </a:schemeClr>
            <a:schemeClr val="phClr">
              <a:tint val="40000"/>
              <a:satMod val="200000"/>
            </a:schemeClr>
          </a:duotone>
        </a:blip>
        <a:tile tx="0" ty="0" sx="70000" sy="70000" flip="none" algn="ctr"/>
      </a:blipFill>
      <a:blipFill>
        <a:blip xmlns:r="http://schemas.openxmlformats.org/officeDocument/2006/relationships" r:embed="rId1">
          <a:duotone>
            <a:schemeClr val="phClr">
              <a:shade val="22000"/>
              <a:satMod val="160000"/>
            </a:schemeClr>
            <a:schemeClr val="phClr">
              <a:shade val="45000"/>
              <a:satMod val="100000"/>
            </a:schemeClr>
          </a:duotone>
        </a:blip>
        <a:tile tx="0" ty="0" sx="65000" sy="65000" flip="none" algn="ctr"/>
      </a:blipFill>
    </a:fillStyleLst>
    <a:lnStyleLst>
      <a:ln w="9525" cap="flat" cmpd="sng" algn="ctr">
        <a:solidFill>
          <a:schemeClr val="phClr">
            <a:shade val="60000"/>
            <a:satMod val="110000"/>
          </a:schemeClr>
        </a:solidFill>
        <a:prstDash val="solid"/>
      </a:ln>
      <a:ln w="127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phClr">
              <a:tint val="10000"/>
              <a:satMod val="13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40000"/>
              <a:satMod val="165000"/>
            </a:schemeClr>
          </a:gs>
          <a:gs pos="50000">
            <a:schemeClr val="phClr">
              <a:shade val="80000"/>
              <a:satMod val="155000"/>
            </a:schemeClr>
          </a:gs>
          <a:gs pos="100000">
            <a:schemeClr val="phClr">
              <a:tint val="95000"/>
              <a:satMod val="200000"/>
            </a:schemeClr>
          </a:gs>
        </a:gsLst>
        <a:lin ang="16200000" scaled="1"/>
      </a:gradFill>
      <a:blipFill>
        <a:blip xmlns:r="http://schemas.openxmlformats.org/officeDocument/2006/relationships" r:embed="rId1">
          <a:duotone>
            <a:schemeClr val="phClr">
              <a:tint val="95000"/>
              <a:satMod val="200000"/>
            </a:schemeClr>
            <a:schemeClr val="phClr">
              <a:shade val="80000"/>
              <a:satMod val="100000"/>
            </a:schemeClr>
          </a:duotone>
        </a:blip>
        <a:tile tx="0" ty="0" sx="55000" sy="55000" flip="none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1821</TotalTime>
  <Words>3495</Words>
  <Application>Microsoft Office PowerPoint</Application>
  <PresentationFormat>Presentación en pantalla (4:3)</PresentationFormat>
  <Paragraphs>548</Paragraphs>
  <Slides>73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73</vt:i4>
      </vt:variant>
    </vt:vector>
  </HeadingPairs>
  <TitlesOfParts>
    <vt:vector size="80" baseType="lpstr">
      <vt:lpstr>Arial</vt:lpstr>
      <vt:lpstr>Calibri</vt:lpstr>
      <vt:lpstr>Franklin Gothic Book</vt:lpstr>
      <vt:lpstr>Perpetua</vt:lpstr>
      <vt:lpstr>Times New Roman</vt:lpstr>
      <vt:lpstr>Wingdings 2</vt:lpstr>
      <vt:lpstr>Equidad</vt:lpstr>
      <vt:lpstr>La curva normal y la curva normal estándar  </vt:lpstr>
      <vt:lpstr>Índice</vt:lpstr>
      <vt:lpstr>Índice</vt:lpstr>
      <vt:lpstr>Índice</vt:lpstr>
      <vt:lpstr>Introducción</vt:lpstr>
      <vt:lpstr>Introducción</vt:lpstr>
      <vt:lpstr>Introducción</vt:lpstr>
      <vt:lpstr>Introducción</vt:lpstr>
      <vt:lpstr>Introducción</vt:lpstr>
      <vt:lpstr>Introducción</vt:lpstr>
      <vt:lpstr>Índice</vt:lpstr>
      <vt:lpstr>Presentación de PowerPoint</vt:lpstr>
      <vt:lpstr>Variable Aleatoria</vt:lpstr>
      <vt:lpstr>Índice</vt:lpstr>
      <vt:lpstr>La curva normal</vt:lpstr>
      <vt:lpstr>La curva normal</vt:lpstr>
      <vt:lpstr>La curva normal</vt:lpstr>
      <vt:lpstr>Presentación de PowerPoint</vt:lpstr>
      <vt:lpstr>Características de la curva normal</vt:lpstr>
      <vt:lpstr>Características de la curva normal</vt:lpstr>
      <vt:lpstr>Características de la curva normal</vt:lpstr>
      <vt:lpstr>Características de la curva normal</vt:lpstr>
      <vt:lpstr>Características de la curva normal</vt:lpstr>
      <vt:lpstr>Presentación de PowerPoint</vt:lpstr>
      <vt:lpstr>Características de la curva normal</vt:lpstr>
      <vt:lpstr>Importancia de la curva normal </vt:lpstr>
      <vt:lpstr>La curva normal y las probabilidades</vt:lpstr>
      <vt:lpstr>Presentación de PowerPoint</vt:lpstr>
      <vt:lpstr>Índice</vt:lpstr>
      <vt:lpstr>La curva normal vs normal estándar</vt:lpstr>
      <vt:lpstr>Presentación de PowerPoint</vt:lpstr>
      <vt:lpstr>Índice</vt:lpstr>
      <vt:lpstr>Probabilidades en distribución N (0,1)</vt:lpstr>
      <vt:lpstr>Probabilidades en distribución N (0,1)</vt:lpstr>
      <vt:lpstr>Probabilidades en distribución N (0,1)</vt:lpstr>
      <vt:lpstr>Presentación de PowerPoint</vt:lpstr>
      <vt:lpstr>Presentación de PowerPoint</vt:lpstr>
      <vt:lpstr>Probabilidades en distribución N (0,1)</vt:lpstr>
      <vt:lpstr>Probabilidades en distribución N (0,1)</vt:lpstr>
      <vt:lpstr>Probabilidades en distribución N (0,1)</vt:lpstr>
      <vt:lpstr>Probabilidades en distribución N (0,1)</vt:lpstr>
      <vt:lpstr>Probabilidades en distribución N (0,1)</vt:lpstr>
      <vt:lpstr>Índice</vt:lpstr>
      <vt:lpstr>Ejemplos 1/9</vt:lpstr>
      <vt:lpstr>Ejemplos 2/9</vt:lpstr>
      <vt:lpstr>Ejemplos 3/9</vt:lpstr>
      <vt:lpstr>Ejemplos 4/9</vt:lpstr>
      <vt:lpstr>Ejemplos 5/9</vt:lpstr>
      <vt:lpstr>Ejemplos 6/9</vt:lpstr>
      <vt:lpstr>Ejemplos 7/9</vt:lpstr>
      <vt:lpstr>Ejemplos 8/9</vt:lpstr>
      <vt:lpstr>Ejemplos 8/9</vt:lpstr>
      <vt:lpstr>Índice</vt:lpstr>
      <vt:lpstr>La estandarización</vt:lpstr>
      <vt:lpstr>Introducción</vt:lpstr>
      <vt:lpstr>Introducción</vt:lpstr>
      <vt:lpstr>Introducción</vt:lpstr>
      <vt:lpstr>Presentación de PowerPoint</vt:lpstr>
      <vt:lpstr>La curva normal estándar  N(0,1)</vt:lpstr>
      <vt:lpstr>La curva normal estándar  N(0,1)</vt:lpstr>
      <vt:lpstr>La curva normal estándar  N(0,1)</vt:lpstr>
      <vt:lpstr>Estandarización</vt:lpstr>
      <vt:lpstr>Estandarización</vt:lpstr>
      <vt:lpstr>Nuestro ejemplo</vt:lpstr>
      <vt:lpstr>Estandarizando</vt:lpstr>
      <vt:lpstr>Estandarizando</vt:lpstr>
      <vt:lpstr>Estandarizando</vt:lpstr>
      <vt:lpstr>Estandarizando</vt:lpstr>
      <vt:lpstr>Estandarizando</vt:lpstr>
      <vt:lpstr>Estandarizando</vt:lpstr>
      <vt:lpstr>Estandarizando</vt:lpstr>
      <vt:lpstr>Reseñas finales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Curva Normal</dc:title>
  <dc:creator>Oscar</dc:creator>
  <cp:lastModifiedBy>Oscar Centeno Mora</cp:lastModifiedBy>
  <cp:revision>159</cp:revision>
  <dcterms:created xsi:type="dcterms:W3CDTF">2010-03-04T23:13:56Z</dcterms:created>
  <dcterms:modified xsi:type="dcterms:W3CDTF">2021-01-15T22:42:54Z</dcterms:modified>
</cp:coreProperties>
</file>